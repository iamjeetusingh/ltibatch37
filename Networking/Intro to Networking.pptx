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6" r:id="rId2"/>
    <p:sldId id="257" r:id="rId3"/>
    <p:sldId id="258" r:id="rId4"/>
    <p:sldId id="259" r:id="rId5"/>
    <p:sldId id="260" r:id="rId6"/>
    <p:sldId id="261" r:id="rId7"/>
    <p:sldId id="262" r:id="rId8"/>
    <p:sldId id="263" r:id="rId9"/>
    <p:sldId id="264" r:id="rId10"/>
    <p:sldId id="265" r:id="rId11"/>
    <p:sldId id="306" r:id="rId12"/>
    <p:sldId id="266" r:id="rId13"/>
    <p:sldId id="267" r:id="rId14"/>
    <p:sldId id="268" r:id="rId15"/>
    <p:sldId id="307" r:id="rId16"/>
    <p:sldId id="351" r:id="rId17"/>
    <p:sldId id="350" r:id="rId18"/>
    <p:sldId id="352" r:id="rId19"/>
    <p:sldId id="308" r:id="rId20"/>
    <p:sldId id="309" r:id="rId21"/>
    <p:sldId id="310" r:id="rId22"/>
    <p:sldId id="353" r:id="rId23"/>
    <p:sldId id="354" r:id="rId24"/>
    <p:sldId id="311" r:id="rId25"/>
    <p:sldId id="355" r:id="rId26"/>
    <p:sldId id="312" r:id="rId27"/>
    <p:sldId id="313" r:id="rId28"/>
    <p:sldId id="314" r:id="rId29"/>
    <p:sldId id="357" r:id="rId30"/>
    <p:sldId id="358" r:id="rId31"/>
    <p:sldId id="315" r:id="rId32"/>
    <p:sldId id="316" r:id="rId33"/>
    <p:sldId id="318" r:id="rId34"/>
    <p:sldId id="320" r:id="rId35"/>
    <p:sldId id="321" r:id="rId36"/>
    <p:sldId id="322" r:id="rId37"/>
    <p:sldId id="323" r:id="rId38"/>
    <p:sldId id="324" r:id="rId39"/>
    <p:sldId id="359" r:id="rId40"/>
    <p:sldId id="325" r:id="rId41"/>
    <p:sldId id="326" r:id="rId42"/>
    <p:sldId id="327" r:id="rId43"/>
    <p:sldId id="328" r:id="rId44"/>
    <p:sldId id="360" r:id="rId45"/>
    <p:sldId id="329" r:id="rId46"/>
    <p:sldId id="361" r:id="rId47"/>
    <p:sldId id="363" r:id="rId48"/>
    <p:sldId id="365" r:id="rId49"/>
    <p:sldId id="364" r:id="rId50"/>
    <p:sldId id="330" r:id="rId51"/>
    <p:sldId id="332" r:id="rId52"/>
    <p:sldId id="333" r:id="rId53"/>
    <p:sldId id="334" r:id="rId54"/>
    <p:sldId id="335" r:id="rId55"/>
    <p:sldId id="336" r:id="rId56"/>
    <p:sldId id="337" r:id="rId57"/>
    <p:sldId id="338" r:id="rId58"/>
    <p:sldId id="366" r:id="rId59"/>
    <p:sldId id="339" r:id="rId60"/>
    <p:sldId id="368" r:id="rId61"/>
    <p:sldId id="369" r:id="rId62"/>
    <p:sldId id="370" r:id="rId63"/>
    <p:sldId id="371" r:id="rId64"/>
    <p:sldId id="372" r:id="rId65"/>
    <p:sldId id="373" r:id="rId66"/>
    <p:sldId id="340" r:id="rId67"/>
    <p:sldId id="367" r:id="rId68"/>
    <p:sldId id="341" r:id="rId69"/>
    <p:sldId id="342" r:id="rId70"/>
    <p:sldId id="343" r:id="rId71"/>
    <p:sldId id="344" r:id="rId72"/>
    <p:sldId id="345" r:id="rId73"/>
    <p:sldId id="374" r:id="rId74"/>
    <p:sldId id="375" r:id="rId75"/>
    <p:sldId id="346" r:id="rId76"/>
    <p:sldId id="347" r:id="rId77"/>
    <p:sldId id="348" r:id="rId78"/>
    <p:sldId id="349" r:id="rId79"/>
    <p:sldId id="376" r:id="rId80"/>
    <p:sldId id="377" r:id="rId81"/>
    <p:sldId id="378" r:id="rId82"/>
    <p:sldId id="379" r:id="rId83"/>
    <p:sldId id="380" r:id="rId84"/>
    <p:sldId id="381" r:id="rId85"/>
    <p:sldId id="382" r:id="rId86"/>
    <p:sldId id="383" r:id="rId87"/>
    <p:sldId id="384" r:id="rId88"/>
    <p:sldId id="385" r:id="rId89"/>
    <p:sldId id="386" r:id="rId90"/>
    <p:sldId id="387" r:id="rId91"/>
    <p:sldId id="388" r:id="rId92"/>
    <p:sldId id="389" r:id="rId93"/>
    <p:sldId id="390" r:id="rId94"/>
    <p:sldId id="391" r:id="rId95"/>
    <p:sldId id="392" r:id="rId9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28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57" autoAdjust="0"/>
    <p:restoredTop sz="94660"/>
  </p:normalViewPr>
  <p:slideViewPr>
    <p:cSldViewPr snapToGrid="0">
      <p:cViewPr varScale="1">
        <p:scale>
          <a:sx n="70" d="100"/>
          <a:sy n="70" d="100"/>
        </p:scale>
        <p:origin x="60" y="56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6600" cap="all" baseline="0">
                <a:blipFill dpi="0" rotWithShape="1">
                  <a:blip r:embed="rId4"/>
                  <a:srcRect/>
                  <a:tile tx="6350" ty="-127000" sx="65000" sy="64000" flip="none" algn="tl"/>
                </a:blipFill>
                <a:latin typeface="Red Hat Display" panose="02010303040201060303" pitchFamily="2" charset="0"/>
                <a:ea typeface="Red Hat Display" panose="02010303040201060303" pitchFamily="2" charset="0"/>
                <a:cs typeface="Red Hat Display" panose="02010303040201060303" pitchFamily="2" charset="0"/>
              </a:defRPr>
            </a:lvl1pPr>
          </a:lstStyle>
          <a:p>
            <a:r>
              <a:rPr lang="en-US" dirty="0"/>
              <a:t>Click to edit Master title style</a:t>
            </a:r>
          </a:p>
        </p:txBody>
      </p:sp>
      <p:sp>
        <p:nvSpPr>
          <p:cNvPr id="3" name="Subtitle 2"/>
          <p:cNvSpPr>
            <a:spLocks noGrp="1"/>
          </p:cNvSpPr>
          <p:nvPr>
            <p:ph type="subTitle" idx="1"/>
          </p:nvPr>
        </p:nvSpPr>
        <p:spPr>
          <a:xfrm>
            <a:off x="1051560" y="4614901"/>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E7352C-F733-4D88-9483-A7DDD146CBE1}" type="datetimeFigureOut">
              <a:rPr lang="en-IN" smtClean="0"/>
              <a:t>01-11-2024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9E4B9BFC-4540-4D13-991E-3C6A1F978543}" type="slidenum">
              <a:rPr lang="en-IN" smtClean="0"/>
              <a:t>‹#›</a:t>
            </a:fld>
            <a:endParaRPr lang="en-IN"/>
          </a:p>
        </p:txBody>
      </p:sp>
    </p:spTree>
    <p:extLst>
      <p:ext uri="{BB962C8B-B14F-4D97-AF65-F5344CB8AC3E}">
        <p14:creationId xmlns:p14="http://schemas.microsoft.com/office/powerpoint/2010/main" val="1073756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57939" y="220091"/>
            <a:ext cx="10753189" cy="1035272"/>
          </a:xfrm>
        </p:spPr>
        <p:txBody>
          <a:bodyPr>
            <a:normAutofit/>
          </a:bodyPr>
          <a:lstStyle>
            <a:lvl1pPr>
              <a:defRPr sz="3600">
                <a:latin typeface="Red Hat Display" panose="02010303040201060303" pitchFamily="2" charset="0"/>
                <a:ea typeface="Red Hat Display" panose="02010303040201060303" pitchFamily="2" charset="0"/>
                <a:cs typeface="Red Hat Display" panose="02010303040201060303" pitchFamily="2" charset="0"/>
              </a:defRPr>
            </a:lvl1pPr>
          </a:lstStyle>
          <a:p>
            <a:r>
              <a:rPr lang="en-US" dirty="0"/>
              <a:t>Click to edit Master title style</a:t>
            </a:r>
          </a:p>
        </p:txBody>
      </p:sp>
      <p:sp>
        <p:nvSpPr>
          <p:cNvPr id="3" name="Content Placeholder 2"/>
          <p:cNvSpPr>
            <a:spLocks noGrp="1"/>
          </p:cNvSpPr>
          <p:nvPr>
            <p:ph idx="1"/>
          </p:nvPr>
        </p:nvSpPr>
        <p:spPr>
          <a:xfrm>
            <a:off x="557939" y="1596325"/>
            <a:ext cx="10753189" cy="4575875"/>
          </a:xfrm>
        </p:spPr>
        <p:txBody>
          <a:bodyPr/>
          <a:lstStyle>
            <a:lvl1pPr marL="342900" indent="-342900">
              <a:buFont typeface="Arial" panose="020B0604020202020204" pitchFamily="34" charset="0"/>
              <a:buChar char="•"/>
              <a:defRPr/>
            </a:lvl1pPr>
            <a:lvl2pPr marL="560070" indent="-285750">
              <a:buFont typeface="Arial" panose="020B0604020202020204" pitchFamily="34" charset="0"/>
              <a:buChar char="•"/>
              <a:defRPr/>
            </a:lvl2pPr>
            <a:lvl3pPr marL="834390" indent="-285750">
              <a:buFont typeface="Arial" panose="020B0604020202020204" pitchFamily="34" charset="0"/>
              <a:buChar char="•"/>
              <a:defRPr/>
            </a:lvl3pPr>
            <a:lvl4pPr marL="1108710" indent="-285750">
              <a:buFont typeface="Arial" panose="020B0604020202020204" pitchFamily="34" charset="0"/>
              <a:buChar char="•"/>
              <a:defRPr/>
            </a:lvl4pPr>
            <a:lvl5pPr marL="1383030" indent="-28575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E7352C-F733-4D88-9483-A7DDD146CBE1}" type="datetimeFigureOut">
              <a:rPr lang="en-IN" smtClean="0"/>
              <a:t>01-11-2024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4B9BFC-4540-4D13-991E-3C6A1F978543}" type="slidenum">
              <a:rPr lang="en-IN" smtClean="0"/>
              <a:t>‹#›</a:t>
            </a:fld>
            <a:endParaRPr lang="en-IN"/>
          </a:p>
        </p:txBody>
      </p:sp>
    </p:spTree>
    <p:extLst>
      <p:ext uri="{BB962C8B-B14F-4D97-AF65-F5344CB8AC3E}">
        <p14:creationId xmlns:p14="http://schemas.microsoft.com/office/powerpoint/2010/main" val="3665564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dirty="0"/>
              <a:t>Click to edit Master title style</a:t>
            </a:r>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85E7352C-F733-4D88-9483-A7DDD146CBE1}" type="datetimeFigureOut">
              <a:rPr lang="en-IN" smtClean="0"/>
              <a:t>01-11-2024</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9E4B9BFC-4540-4D13-991E-3C6A1F978543}" type="slidenum">
              <a:rPr lang="en-IN" smtClean="0"/>
              <a:t>‹#›</a:t>
            </a:fld>
            <a:endParaRPr lang="en-IN"/>
          </a:p>
        </p:txBody>
      </p:sp>
    </p:spTree>
    <p:extLst>
      <p:ext uri="{BB962C8B-B14F-4D97-AF65-F5344CB8AC3E}">
        <p14:creationId xmlns:p14="http://schemas.microsoft.com/office/powerpoint/2010/main" val="85886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E7352C-F733-4D88-9483-A7DDD146CBE1}" type="datetimeFigureOut">
              <a:rPr lang="en-IN" smtClean="0"/>
              <a:t>01-11-2024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4B9BFC-4540-4D13-991E-3C6A1F978543}" type="slidenum">
              <a:rPr lang="en-IN" smtClean="0"/>
              <a:t>‹#›</a:t>
            </a:fld>
            <a:endParaRPr lang="en-IN"/>
          </a:p>
        </p:txBody>
      </p:sp>
    </p:spTree>
    <p:extLst>
      <p:ext uri="{BB962C8B-B14F-4D97-AF65-F5344CB8AC3E}">
        <p14:creationId xmlns:p14="http://schemas.microsoft.com/office/powerpoint/2010/main" val="1275646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E7352C-F733-4D88-9483-A7DDD146CBE1}" type="datetimeFigureOut">
              <a:rPr lang="en-IN" smtClean="0"/>
              <a:t>01-11-2024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E4B9BFC-4540-4D13-991E-3C6A1F978543}" type="slidenum">
              <a:rPr lang="en-IN" smtClean="0"/>
              <a:t>‹#›</a:t>
            </a:fld>
            <a:endParaRPr lang="en-IN"/>
          </a:p>
        </p:txBody>
      </p:sp>
    </p:spTree>
    <p:extLst>
      <p:ext uri="{BB962C8B-B14F-4D97-AF65-F5344CB8AC3E}">
        <p14:creationId xmlns:p14="http://schemas.microsoft.com/office/powerpoint/2010/main" val="3142535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E7352C-F733-4D88-9483-A7DDD146CBE1}" type="datetimeFigureOut">
              <a:rPr lang="en-IN" smtClean="0"/>
              <a:t>01-11-2024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E4B9BFC-4540-4D13-991E-3C6A1F978543}" type="slidenum">
              <a:rPr lang="en-IN" smtClean="0"/>
              <a:t>‹#›</a:t>
            </a:fld>
            <a:endParaRPr lang="en-IN"/>
          </a:p>
        </p:txBody>
      </p:sp>
    </p:spTree>
    <p:extLst>
      <p:ext uri="{BB962C8B-B14F-4D97-AF65-F5344CB8AC3E}">
        <p14:creationId xmlns:p14="http://schemas.microsoft.com/office/powerpoint/2010/main" val="3050004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E7352C-F733-4D88-9483-A7DDD146CBE1}" type="datetimeFigureOut">
              <a:rPr lang="en-IN" smtClean="0"/>
              <a:t>01-11-2024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E4B9BFC-4540-4D13-991E-3C6A1F978543}" type="slidenum">
              <a:rPr lang="en-IN" smtClean="0"/>
              <a:t>‹#›</a:t>
            </a:fld>
            <a:endParaRPr lang="en-IN"/>
          </a:p>
        </p:txBody>
      </p:sp>
    </p:spTree>
    <p:extLst>
      <p:ext uri="{BB962C8B-B14F-4D97-AF65-F5344CB8AC3E}">
        <p14:creationId xmlns:p14="http://schemas.microsoft.com/office/powerpoint/2010/main" val="3603132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E7352C-F733-4D88-9483-A7DDD146CBE1}" type="datetimeFigureOut">
              <a:rPr lang="en-IN" smtClean="0"/>
              <a:t>01-11-2024</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E4B9BFC-4540-4D13-991E-3C6A1F978543}" type="slidenum">
              <a:rPr lang="en-IN" smtClean="0"/>
              <a:t>‹#›</a:t>
            </a:fld>
            <a:endParaRPr lang="en-IN"/>
          </a:p>
        </p:txBody>
      </p:sp>
    </p:spTree>
    <p:extLst>
      <p:ext uri="{BB962C8B-B14F-4D97-AF65-F5344CB8AC3E}">
        <p14:creationId xmlns:p14="http://schemas.microsoft.com/office/powerpoint/2010/main" val="285636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E7352C-F733-4D88-9483-A7DDD146CBE1}" type="datetimeFigureOut">
              <a:rPr lang="en-IN" smtClean="0"/>
              <a:t>01-11-2024</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9E4B9BFC-4540-4D13-991E-3C6A1F978543}" type="slidenum">
              <a:rPr lang="en-IN" smtClean="0"/>
              <a:t>‹#›</a:t>
            </a:fld>
            <a:endParaRPr lang="en-IN"/>
          </a:p>
        </p:txBody>
      </p:sp>
    </p:spTree>
    <p:extLst>
      <p:ext uri="{BB962C8B-B14F-4D97-AF65-F5344CB8AC3E}">
        <p14:creationId xmlns:p14="http://schemas.microsoft.com/office/powerpoint/2010/main" val="3131110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E7352C-F733-4D88-9483-A7DDD146CBE1}" type="datetimeFigureOut">
              <a:rPr lang="en-IN" smtClean="0"/>
              <a:t>01-11-2024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4B9BFC-4540-4D13-991E-3C6A1F978543}" type="slidenum">
              <a:rPr lang="en-IN" smtClean="0"/>
              <a:t>‹#›</a:t>
            </a:fld>
            <a:endParaRPr lang="en-IN"/>
          </a:p>
        </p:txBody>
      </p:sp>
    </p:spTree>
    <p:extLst>
      <p:ext uri="{BB962C8B-B14F-4D97-AF65-F5344CB8AC3E}">
        <p14:creationId xmlns:p14="http://schemas.microsoft.com/office/powerpoint/2010/main" val="1748003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E7352C-F733-4D88-9483-A7DDD146CBE1}" type="datetimeFigureOut">
              <a:rPr lang="en-IN" smtClean="0"/>
              <a:t>01-11-2024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4B9BFC-4540-4D13-991E-3C6A1F978543}" type="slidenum">
              <a:rPr lang="en-IN" smtClean="0"/>
              <a:t>‹#›</a:t>
            </a:fld>
            <a:endParaRPr lang="en-IN"/>
          </a:p>
        </p:txBody>
      </p:sp>
    </p:spTree>
    <p:extLst>
      <p:ext uri="{BB962C8B-B14F-4D97-AF65-F5344CB8AC3E}">
        <p14:creationId xmlns:p14="http://schemas.microsoft.com/office/powerpoint/2010/main" val="337877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2390" y="255272"/>
            <a:ext cx="10445858" cy="160934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2390" y="2121408"/>
            <a:ext cx="10445858" cy="40507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5E7352C-F733-4D88-9483-A7DDD146CBE1}" type="datetimeFigureOut">
              <a:rPr lang="en-IN" smtClean="0"/>
              <a:t>01-11-2024</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E4B9BFC-4540-4D13-991E-3C6A1F978543}" type="slidenum">
              <a:rPr lang="en-IN" smtClean="0"/>
              <a:t>‹#›</a:t>
            </a:fld>
            <a:endParaRPr lang="en-IN"/>
          </a:p>
        </p:txBody>
      </p:sp>
    </p:spTree>
    <p:extLst>
      <p:ext uri="{BB962C8B-B14F-4D97-AF65-F5344CB8AC3E}">
        <p14:creationId xmlns:p14="http://schemas.microsoft.com/office/powerpoint/2010/main" val="376591162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lnSpc>
          <a:spcPct val="90000"/>
        </a:lnSpc>
        <a:spcBef>
          <a:spcPct val="0"/>
        </a:spcBef>
        <a:buNone/>
        <a:defRPr sz="4400" kern="1200" cap="all" baseline="0">
          <a:blipFill>
            <a:blip r:embed="rId15">
              <a:extLst>
                <a:ext uri="{28A0092B-C50C-407E-A947-70E740481C1C}">
                  <a14:useLocalDpi xmlns:a14="http://schemas.microsoft.com/office/drawing/2010/main" val="0"/>
                </a:ext>
              </a:extLst>
            </a:blip>
            <a:tile tx="6350" ty="-127000" sx="65000" sy="64000" flip="none" algn="tl"/>
          </a:blipFill>
          <a:latin typeface="Red Hat Display" panose="02010303040201060303" pitchFamily="2" charset="0"/>
          <a:ea typeface="Red Hat Display" panose="02010303040201060303" pitchFamily="2" charset="0"/>
          <a:cs typeface="Red Hat Display" panose="02010303040201060303" pitchFamily="2" charset="0"/>
        </a:defRPr>
      </a:lvl1pPr>
    </p:titleStyle>
    <p:body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3C5BF-4108-F57F-C769-6101627F5C74}"/>
              </a:ext>
            </a:extLst>
          </p:cNvPr>
          <p:cNvSpPr>
            <a:spLocks noGrp="1"/>
          </p:cNvSpPr>
          <p:nvPr>
            <p:ph type="ctrTitle"/>
          </p:nvPr>
        </p:nvSpPr>
        <p:spPr>
          <a:xfrm>
            <a:off x="1434741" y="2606047"/>
            <a:ext cx="9441052" cy="1043659"/>
          </a:xfrm>
        </p:spPr>
        <p:txBody>
          <a:bodyPr/>
          <a:lstStyle/>
          <a:p>
            <a:pPr algn="ctr"/>
            <a:r>
              <a:rPr lang="en-US" b="1" spc="600" dirty="0">
                <a:latin typeface="Red Hat Display" panose="02010303040201060303" pitchFamily="2" charset="0"/>
                <a:ea typeface="Red Hat Display" panose="02010303040201060303" pitchFamily="2" charset="0"/>
                <a:cs typeface="Red Hat Display" panose="02010303040201060303" pitchFamily="2" charset="0"/>
              </a:rPr>
              <a:t>Networking</a:t>
            </a:r>
            <a:endParaRPr lang="en-IN" b="1" spc="600"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3" name="Subtitle 2">
            <a:extLst>
              <a:ext uri="{FF2B5EF4-FFF2-40B4-BE49-F238E27FC236}">
                <a16:creationId xmlns:a16="http://schemas.microsoft.com/office/drawing/2014/main" id="{6653DA05-CF16-AF41-8E64-2C0AEEEFB697}"/>
              </a:ext>
            </a:extLst>
          </p:cNvPr>
          <p:cNvSpPr>
            <a:spLocks noGrp="1"/>
          </p:cNvSpPr>
          <p:nvPr>
            <p:ph type="subTitle" idx="1"/>
          </p:nvPr>
        </p:nvSpPr>
        <p:spPr>
          <a:xfrm>
            <a:off x="1524000" y="4673885"/>
            <a:ext cx="9144000" cy="754025"/>
          </a:xfrm>
        </p:spPr>
        <p:txBody>
          <a:bodyPr>
            <a:normAutofit fontScale="92500" lnSpcReduction="10000"/>
          </a:bodyPr>
          <a:lstStyle/>
          <a:p>
            <a:pPr algn="ctr"/>
            <a:r>
              <a:rPr lang="en-US" dirty="0">
                <a:latin typeface="Red Hat Display" panose="02010303040201060303" pitchFamily="2" charset="0"/>
                <a:ea typeface="Red Hat Display" panose="02010303040201060303" pitchFamily="2" charset="0"/>
                <a:cs typeface="Red Hat Display" panose="02010303040201060303" pitchFamily="2" charset="0"/>
              </a:rPr>
              <a:t>By</a:t>
            </a:r>
          </a:p>
          <a:p>
            <a:pPr algn="ctr"/>
            <a:r>
              <a:rPr lang="en-US" dirty="0">
                <a:latin typeface="Red Hat Display" panose="02010303040201060303" pitchFamily="2" charset="0"/>
                <a:ea typeface="Red Hat Display" panose="02010303040201060303" pitchFamily="2" charset="0"/>
                <a:cs typeface="Red Hat Display" panose="02010303040201060303" pitchFamily="2" charset="0"/>
              </a:rPr>
              <a:t>Jitendra Singh Tomar || Jeetu</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2291577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07180-EBA2-C801-07B0-516D689A3BF0}"/>
              </a:ext>
            </a:extLst>
          </p:cNvPr>
          <p:cNvSpPr>
            <a:spLocks noGrp="1"/>
          </p:cNvSpPr>
          <p:nvPr>
            <p:ph type="title"/>
          </p:nvPr>
        </p:nvSpPr>
        <p:spPr/>
        <p:txBody>
          <a:bodyPr/>
          <a:lstStyle/>
          <a:p>
            <a:r>
              <a:rPr lang="en-US" dirty="0"/>
              <a:t>Agenda</a:t>
            </a:r>
            <a:endParaRPr lang="en-IN" dirty="0"/>
          </a:p>
        </p:txBody>
      </p:sp>
      <p:sp>
        <p:nvSpPr>
          <p:cNvPr id="5" name="Content Placeholder 2">
            <a:extLst>
              <a:ext uri="{FF2B5EF4-FFF2-40B4-BE49-F238E27FC236}">
                <a16:creationId xmlns:a16="http://schemas.microsoft.com/office/drawing/2014/main" id="{E3DABF4C-3D91-AC6E-D75D-B6A634B3A185}"/>
              </a:ext>
            </a:extLst>
          </p:cNvPr>
          <p:cNvSpPr txBox="1">
            <a:spLocks/>
          </p:cNvSpPr>
          <p:nvPr/>
        </p:nvSpPr>
        <p:spPr>
          <a:xfrm>
            <a:off x="6242332" y="1825625"/>
            <a:ext cx="4976000" cy="4667250"/>
          </a:xfrm>
          <a:prstGeom prst="rect">
            <a:avLst/>
          </a:prstGeom>
        </p:spPr>
        <p:txBody>
          <a:bodyPr vert="horz" lIns="91440" tIns="45720" rIns="91440" bIns="45720" rtlCol="0">
            <a:normAutofit/>
          </a:bodyPr>
          <a:lstStyle>
            <a:lvl1pPr marL="228600" indent="-228600" algn="just" defTabSz="914400" rtl="0" eaLnBrk="1" latinLnBrk="0" hangingPunct="1">
              <a:lnSpc>
                <a:spcPct val="90000"/>
              </a:lnSpc>
              <a:spcBef>
                <a:spcPts val="1000"/>
              </a:spcBef>
              <a:buFont typeface="Arial" panose="020B0604020202020204" pitchFamily="34" charset="0"/>
              <a:buChar char="•"/>
              <a:defRPr sz="22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Red Hat Display" panose="02010303040201060303" pitchFamily="2" charset="0"/>
                <a:ea typeface="Red Hat Display" panose="02010303040201060303" pitchFamily="2" charset="0"/>
                <a:cs typeface="Red Hat Display" panose="02010303040201060303" pitchFamily="2" charset="0"/>
              </a:defRPr>
            </a:lvl1pPr>
            <a:lvl2pPr marL="685800" indent="-228600" algn="just"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Red Hat Display" panose="02010303040201060303" pitchFamily="2" charset="0"/>
                <a:ea typeface="Red Hat Display" panose="02010303040201060303" pitchFamily="2" charset="0"/>
                <a:cs typeface="Red Hat Display" panose="02010303040201060303" pitchFamily="2" charset="0"/>
              </a:defRPr>
            </a:lvl2pPr>
            <a:lvl3pPr marL="1143000" indent="-228600" algn="just"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Red Hat Display" panose="02010303040201060303" pitchFamily="2" charset="0"/>
                <a:ea typeface="Red Hat Display" panose="02010303040201060303" pitchFamily="2" charset="0"/>
                <a:cs typeface="Red Hat Display" panose="02010303040201060303" pitchFamily="2" charset="0"/>
              </a:defRPr>
            </a:lvl3pPr>
            <a:lvl4pPr marL="1600200" indent="-228600" algn="just" defTabSz="914400" rtl="0" eaLnBrk="1" latinLnBrk="0" hangingPunct="1">
              <a:lnSpc>
                <a:spcPct val="90000"/>
              </a:lnSpc>
              <a:spcBef>
                <a:spcPts val="500"/>
              </a:spcBef>
              <a:buFont typeface="Arial" panose="020B0604020202020204" pitchFamily="34" charset="0"/>
              <a:buChar char="•"/>
              <a:defRPr sz="16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Red Hat Display" panose="02010303040201060303" pitchFamily="2" charset="0"/>
                <a:ea typeface="Red Hat Display" panose="02010303040201060303" pitchFamily="2" charset="0"/>
                <a:cs typeface="Red Hat Display" panose="02010303040201060303" pitchFamily="2"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6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Red Hat Display" panose="02010303040201060303" pitchFamily="2" charset="0"/>
                <a:ea typeface="Red Hat Display" panose="02010303040201060303" pitchFamily="2" charset="0"/>
                <a:cs typeface="Red Hat Display" panose="02010303040201060303"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endParaRPr lang="en-IN" dirty="0"/>
          </a:p>
        </p:txBody>
      </p:sp>
      <p:sp>
        <p:nvSpPr>
          <p:cNvPr id="6" name="TextBox 5">
            <a:extLst>
              <a:ext uri="{FF2B5EF4-FFF2-40B4-BE49-F238E27FC236}">
                <a16:creationId xmlns:a16="http://schemas.microsoft.com/office/drawing/2014/main" id="{15820142-055D-376E-AEA5-2171B62EB52F}"/>
              </a:ext>
            </a:extLst>
          </p:cNvPr>
          <p:cNvSpPr txBox="1"/>
          <p:nvPr/>
        </p:nvSpPr>
        <p:spPr>
          <a:xfrm>
            <a:off x="1058586" y="1388758"/>
            <a:ext cx="4144083" cy="3386633"/>
          </a:xfrm>
          <a:prstGeom prst="rect">
            <a:avLst/>
          </a:prstGeom>
          <a:noFill/>
        </p:spPr>
        <p:txBody>
          <a:bodyPr wrap="none" rtlCol="0">
            <a:spAutoFit/>
          </a:bodyPr>
          <a:lstStyle/>
          <a:p>
            <a:pPr marL="342900" indent="-342900">
              <a:lnSpc>
                <a:spcPct val="200000"/>
              </a:lnSpc>
              <a:buFont typeface="Arial" panose="020B0604020202020204" pitchFamily="34" charset="0"/>
              <a:buChar char="•"/>
            </a:pPr>
            <a:r>
              <a:rPr lang="en-US" sz="2200" dirty="0">
                <a:latin typeface="Red Hat Display" panose="02010303040201060303" pitchFamily="2" charset="0"/>
                <a:ea typeface="Red Hat Display" panose="02010303040201060303" pitchFamily="2" charset="0"/>
                <a:cs typeface="Red Hat Display" panose="02010303040201060303" pitchFamily="2" charset="0"/>
              </a:rPr>
              <a:t>Fundamentals Review</a:t>
            </a:r>
          </a:p>
          <a:p>
            <a:pPr marL="342900" indent="-342900">
              <a:lnSpc>
                <a:spcPct val="200000"/>
              </a:lnSpc>
              <a:buFont typeface="Arial" panose="020B0604020202020204" pitchFamily="34" charset="0"/>
              <a:buChar char="•"/>
            </a:pPr>
            <a:r>
              <a:rPr lang="en-US" sz="2200" dirty="0">
                <a:latin typeface="Red Hat Display" panose="02010303040201060303" pitchFamily="2" charset="0"/>
                <a:ea typeface="Red Hat Display" panose="02010303040201060303" pitchFamily="2" charset="0"/>
                <a:cs typeface="Red Hat Display" panose="02010303040201060303" pitchFamily="2" charset="0"/>
              </a:rPr>
              <a:t>Network Addressing Scheme</a:t>
            </a:r>
          </a:p>
          <a:p>
            <a:pPr marL="342900" indent="-342900">
              <a:lnSpc>
                <a:spcPct val="200000"/>
              </a:lnSpc>
              <a:buFont typeface="Arial" panose="020B0604020202020204" pitchFamily="34" charset="0"/>
              <a:buChar char="•"/>
            </a:pPr>
            <a:r>
              <a:rPr lang="en-US" sz="2200" dirty="0">
                <a:latin typeface="Red Hat Display" panose="02010303040201060303" pitchFamily="2" charset="0"/>
                <a:ea typeface="Red Hat Display" panose="02010303040201060303" pitchFamily="2" charset="0"/>
                <a:cs typeface="Red Hat Display" panose="02010303040201060303" pitchFamily="2" charset="0"/>
              </a:rPr>
              <a:t>Switching</a:t>
            </a:r>
          </a:p>
          <a:p>
            <a:pPr marL="342900" indent="-342900">
              <a:lnSpc>
                <a:spcPct val="200000"/>
              </a:lnSpc>
              <a:buFont typeface="Arial" panose="020B0604020202020204" pitchFamily="34" charset="0"/>
              <a:buChar char="•"/>
            </a:pPr>
            <a:r>
              <a:rPr lang="en-US" sz="2200" dirty="0">
                <a:latin typeface="Red Hat Display" panose="02010303040201060303" pitchFamily="2" charset="0"/>
                <a:ea typeface="Red Hat Display" panose="02010303040201060303" pitchFamily="2" charset="0"/>
                <a:cs typeface="Red Hat Display" panose="02010303040201060303" pitchFamily="2" charset="0"/>
              </a:rPr>
              <a:t>Router</a:t>
            </a:r>
          </a:p>
          <a:p>
            <a:pPr marL="342900" indent="-342900">
              <a:lnSpc>
                <a:spcPct val="200000"/>
              </a:lnSpc>
              <a:buFont typeface="Arial" panose="020B0604020202020204" pitchFamily="34" charset="0"/>
              <a:buChar char="•"/>
            </a:pPr>
            <a:r>
              <a:rPr lang="en-US" sz="2200" dirty="0">
                <a:latin typeface="Red Hat Display" panose="02010303040201060303" pitchFamily="2" charset="0"/>
                <a:ea typeface="Red Hat Display" panose="02010303040201060303" pitchFamily="2" charset="0"/>
                <a:cs typeface="Red Hat Display" panose="02010303040201060303" pitchFamily="2" charset="0"/>
              </a:rPr>
              <a:t>IP Routing</a:t>
            </a:r>
          </a:p>
        </p:txBody>
      </p:sp>
      <p:sp>
        <p:nvSpPr>
          <p:cNvPr id="7" name="TextBox 6">
            <a:extLst>
              <a:ext uri="{FF2B5EF4-FFF2-40B4-BE49-F238E27FC236}">
                <a16:creationId xmlns:a16="http://schemas.microsoft.com/office/drawing/2014/main" id="{5402E492-4074-66E1-6511-D54EA6233ECD}"/>
              </a:ext>
            </a:extLst>
          </p:cNvPr>
          <p:cNvSpPr txBox="1"/>
          <p:nvPr/>
        </p:nvSpPr>
        <p:spPr>
          <a:xfrm>
            <a:off x="6284790" y="1388758"/>
            <a:ext cx="4891083" cy="2709524"/>
          </a:xfrm>
          <a:prstGeom prst="rect">
            <a:avLst/>
          </a:prstGeom>
          <a:noFill/>
        </p:spPr>
        <p:txBody>
          <a:bodyPr wrap="none" rtlCol="0">
            <a:spAutoFit/>
          </a:bodyPr>
          <a:lstStyle/>
          <a:p>
            <a:pPr marL="342900" indent="-342900">
              <a:lnSpc>
                <a:spcPct val="200000"/>
              </a:lnSpc>
              <a:buFont typeface="Arial" panose="020B0604020202020204" pitchFamily="34" charset="0"/>
              <a:buChar char="•"/>
            </a:pPr>
            <a:r>
              <a:rPr lang="en-US" sz="2200" dirty="0">
                <a:latin typeface="Red Hat Display" panose="02010303040201060303" pitchFamily="2" charset="0"/>
                <a:ea typeface="Red Hat Display" panose="02010303040201060303" pitchFamily="2" charset="0"/>
                <a:cs typeface="Red Hat Display" panose="02010303040201060303" pitchFamily="2" charset="0"/>
              </a:rPr>
              <a:t>IPv6</a:t>
            </a:r>
          </a:p>
          <a:p>
            <a:pPr marL="342900" indent="-342900">
              <a:lnSpc>
                <a:spcPct val="200000"/>
              </a:lnSpc>
              <a:buFont typeface="Arial" panose="020B0604020202020204" pitchFamily="34" charset="0"/>
              <a:buChar char="•"/>
            </a:pPr>
            <a:r>
              <a:rPr lang="en-US" sz="2200" dirty="0">
                <a:latin typeface="Red Hat Display" panose="02010303040201060303" pitchFamily="2" charset="0"/>
                <a:ea typeface="Red Hat Display" panose="02010303040201060303" pitchFamily="2" charset="0"/>
                <a:cs typeface="Red Hat Display" panose="02010303040201060303" pitchFamily="2" charset="0"/>
              </a:rPr>
              <a:t>WAN</a:t>
            </a:r>
          </a:p>
          <a:p>
            <a:pPr marL="342900" indent="-342900">
              <a:lnSpc>
                <a:spcPct val="200000"/>
              </a:lnSpc>
              <a:buFont typeface="Arial" panose="020B0604020202020204" pitchFamily="34" charset="0"/>
              <a:buChar char="•"/>
            </a:pPr>
            <a:r>
              <a:rPr lang="en-US" sz="2200" dirty="0">
                <a:latin typeface="Red Hat Display" panose="02010303040201060303" pitchFamily="2" charset="0"/>
                <a:ea typeface="Red Hat Display" panose="02010303040201060303" pitchFamily="2" charset="0"/>
                <a:cs typeface="Red Hat Display" panose="02010303040201060303" pitchFamily="2" charset="0"/>
              </a:rPr>
              <a:t>Crash-recovery(Router)</a:t>
            </a:r>
          </a:p>
          <a:p>
            <a:pPr marL="342900" indent="-342900">
              <a:lnSpc>
                <a:spcPct val="200000"/>
              </a:lnSpc>
              <a:buFont typeface="Arial" panose="020B0604020202020204" pitchFamily="34" charset="0"/>
              <a:buChar char="•"/>
            </a:pPr>
            <a:r>
              <a:rPr lang="en-US" sz="2200" dirty="0">
                <a:latin typeface="Red Hat Display" panose="02010303040201060303" pitchFamily="2" charset="0"/>
                <a:ea typeface="Red Hat Display" panose="02010303040201060303" pitchFamily="2" charset="0"/>
                <a:cs typeface="Red Hat Display" panose="02010303040201060303" pitchFamily="2" charset="0"/>
              </a:rPr>
              <a:t>SDN - Software Define Networking</a:t>
            </a:r>
            <a:endParaRPr lang="en-IN" sz="2200"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3484217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p:txBody>
          <a:bodyPr/>
          <a:lstStyle/>
          <a:p>
            <a:r>
              <a:rPr lang="en-IN" dirty="0"/>
              <a:t>Introduction to Networks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976393" y="1117600"/>
            <a:ext cx="10826140" cy="5444067"/>
          </a:xfrm>
        </p:spPr>
        <p:txBody>
          <a:bodyPr>
            <a:normAutofit/>
          </a:bodyPr>
          <a:lstStyle/>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Computer Network is </a:t>
            </a:r>
            <a:r>
              <a:rPr lang="en-US" sz="2000" b="1" dirty="0">
                <a:latin typeface="Red Hat Display" panose="02010303040201060303" pitchFamily="2" charset="0"/>
                <a:ea typeface="Red Hat Display" panose="02010303040201060303" pitchFamily="2" charset="0"/>
                <a:cs typeface="Red Hat Display" panose="02010303040201060303" pitchFamily="2" charset="0"/>
              </a:rPr>
              <a:t>a group of computers connected </a:t>
            </a:r>
            <a:r>
              <a:rPr lang="en-US" sz="2000" dirty="0">
                <a:latin typeface="Red Hat Display" panose="02010303040201060303" pitchFamily="2" charset="0"/>
                <a:ea typeface="Red Hat Display" panose="02010303040201060303" pitchFamily="2" charset="0"/>
                <a:cs typeface="Red Hat Display" panose="02010303040201060303" pitchFamily="2" charset="0"/>
              </a:rPr>
              <a:t>with each other through wires, optical fibers or optical links so that various devices can interact with each other through a network.</a:t>
            </a:r>
          </a:p>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The aim of the computer network is the </a:t>
            </a:r>
            <a:r>
              <a:rPr lang="en-US" sz="2000" b="1" dirty="0">
                <a:latin typeface="Red Hat Display" panose="02010303040201060303" pitchFamily="2" charset="0"/>
                <a:ea typeface="Red Hat Display" panose="02010303040201060303" pitchFamily="2" charset="0"/>
                <a:cs typeface="Red Hat Display" panose="02010303040201060303" pitchFamily="2" charset="0"/>
              </a:rPr>
              <a:t>sharing of resources </a:t>
            </a:r>
            <a:r>
              <a:rPr lang="en-US" sz="2000" dirty="0">
                <a:latin typeface="Red Hat Display" panose="02010303040201060303" pitchFamily="2" charset="0"/>
                <a:ea typeface="Red Hat Display" panose="02010303040201060303" pitchFamily="2" charset="0"/>
                <a:cs typeface="Red Hat Display" panose="02010303040201060303" pitchFamily="2" charset="0"/>
              </a:rPr>
              <a:t>among various devices.</a:t>
            </a:r>
          </a:p>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A computer network consists of various kinds of nodes. Servers, networking hardware, personal computers, and other specialized or general-purpose hosts can all be nodes in a computer network.</a:t>
            </a:r>
            <a:endParaRPr lang="en-IN" sz="2000"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7209710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p:txBody>
          <a:bodyPr/>
          <a:lstStyle/>
          <a:p>
            <a:r>
              <a:rPr lang="en-US" dirty="0"/>
              <a:t>What is a Computer Network?</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1120000" y="1255363"/>
            <a:ext cx="10753188" cy="5306304"/>
          </a:xfrm>
        </p:spPr>
        <p:txBody>
          <a:bodyPr>
            <a:normAutofit/>
          </a:bodyPr>
          <a:lstStyle/>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A computer network is a system that connects many independent computers to share information (data) and resources. </a:t>
            </a:r>
          </a:p>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The integration of computers and other different devices allows users to communicate more easily. </a:t>
            </a:r>
          </a:p>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A network connection can be established using either cable or wireless media. </a:t>
            </a:r>
          </a:p>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Hardware and software are used to connect computers and tools in any network.</a:t>
            </a:r>
            <a:endParaRPr lang="en-IN" sz="2000"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3767681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p:txBody>
          <a:bodyPr/>
          <a:lstStyle/>
          <a:p>
            <a:r>
              <a:rPr lang="en-IN" dirty="0"/>
              <a:t>What Do Computer Networks Do?</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1119999" y="1255363"/>
            <a:ext cx="10753189" cy="5306304"/>
          </a:xfrm>
        </p:spPr>
        <p:txBody>
          <a:bodyPr>
            <a:normAutofit/>
          </a:bodyPr>
          <a:lstStyle/>
          <a:p>
            <a:pPr marL="0" indent="0" algn="just">
              <a:lnSpc>
                <a:spcPct val="200000"/>
              </a:lnSpc>
              <a:buNone/>
            </a:pPr>
            <a:r>
              <a:rPr lang="en-US" sz="2000" dirty="0">
                <a:latin typeface="Red Hat Display" panose="02010303040201060303" pitchFamily="2" charset="0"/>
                <a:ea typeface="Red Hat Display" panose="02010303040201060303" pitchFamily="2" charset="0"/>
                <a:cs typeface="Red Hat Display" panose="02010303040201060303" pitchFamily="2" charset="0"/>
              </a:rPr>
              <a:t>Computer Networks help in providing better connectivity that helps nowadays. Modern computer networks have the following functionality:</a:t>
            </a:r>
          </a:p>
          <a:p>
            <a:pPr lvl="1">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Computer Networks help in operating virtually</a:t>
            </a:r>
          </a:p>
          <a:p>
            <a:pPr lvl="1">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Computer Networks integrate on a large scale</a:t>
            </a:r>
          </a:p>
          <a:p>
            <a:pPr lvl="1">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Computer Networks respond very quickly in case of conditions change</a:t>
            </a:r>
          </a:p>
          <a:p>
            <a:pPr lvl="1">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Computer Networks help in providing data security</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4668157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946BE5-C1BD-4064-9B5A-8C6DD953A247}"/>
              </a:ext>
            </a:extLst>
          </p:cNvPr>
          <p:cNvPicPr>
            <a:picLocks noChangeAspect="1"/>
          </p:cNvPicPr>
          <p:nvPr/>
        </p:nvPicPr>
        <p:blipFill rotWithShape="1">
          <a:blip r:embed="rId2">
            <a:extLst>
              <a:ext uri="{28A0092B-C50C-407E-A947-70E740481C1C}">
                <a14:useLocalDpi xmlns:a14="http://schemas.microsoft.com/office/drawing/2010/main" val="0"/>
              </a:ext>
            </a:extLst>
          </a:blip>
          <a:srcRect l="8140" t="20588" r="12954" b="7095"/>
          <a:stretch/>
        </p:blipFill>
        <p:spPr>
          <a:xfrm>
            <a:off x="6989737" y="1625042"/>
            <a:ext cx="5067946" cy="3776117"/>
          </a:xfrm>
          <a:prstGeom prst="rect">
            <a:avLst/>
          </a:prstGeom>
        </p:spPr>
      </p:pic>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p:txBody>
          <a:bodyPr>
            <a:normAutofit/>
          </a:bodyPr>
          <a:lstStyle/>
          <a:p>
            <a:r>
              <a:rPr lang="en-US" sz="3600" dirty="0"/>
              <a:t>Key Components of a Computer Network</a:t>
            </a:r>
            <a:endParaRPr lang="en-IN" sz="3600"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838200" y="1255363"/>
            <a:ext cx="7515386" cy="5306304"/>
          </a:xfrm>
        </p:spPr>
        <p:txBody>
          <a:bodyPr>
            <a:normAutofit lnSpcReduction="10000"/>
          </a:bodyPr>
          <a:lstStyle/>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A computer network is made up of two main parts: </a:t>
            </a:r>
          </a:p>
          <a:p>
            <a:pPr lvl="1">
              <a:lnSpc>
                <a:spcPct val="200000"/>
              </a:lnSpc>
            </a:pPr>
            <a:r>
              <a:rPr lang="en-US" sz="1800" b="1" dirty="0">
                <a:latin typeface="Red Hat Display" panose="02010303040201060303" pitchFamily="2" charset="0"/>
                <a:ea typeface="Red Hat Display" panose="02010303040201060303" pitchFamily="2" charset="0"/>
                <a:cs typeface="Red Hat Display" panose="02010303040201060303" pitchFamily="2" charset="0"/>
              </a:rPr>
              <a:t>Devices</a:t>
            </a:r>
            <a:r>
              <a:rPr lang="en-US" sz="1800" dirty="0">
                <a:latin typeface="Red Hat Display" panose="02010303040201060303" pitchFamily="2" charset="0"/>
                <a:ea typeface="Red Hat Display" panose="02010303040201060303" pitchFamily="2" charset="0"/>
                <a:cs typeface="Red Hat Display" panose="02010303040201060303" pitchFamily="2" charset="0"/>
              </a:rPr>
              <a:t> (called nodes) &amp; </a:t>
            </a:r>
          </a:p>
          <a:p>
            <a:pPr lvl="1">
              <a:lnSpc>
                <a:spcPct val="200000"/>
              </a:lnSpc>
            </a:pPr>
            <a:r>
              <a:rPr lang="en-US" sz="1800" b="1" dirty="0">
                <a:latin typeface="Red Hat Display" panose="02010303040201060303" pitchFamily="2" charset="0"/>
                <a:ea typeface="Red Hat Display" panose="02010303040201060303" pitchFamily="2" charset="0"/>
                <a:cs typeface="Red Hat Display" panose="02010303040201060303" pitchFamily="2" charset="0"/>
              </a:rPr>
              <a:t>Connections</a:t>
            </a:r>
            <a:r>
              <a:rPr lang="en-US" sz="1800" dirty="0">
                <a:latin typeface="Red Hat Display" panose="02010303040201060303" pitchFamily="2" charset="0"/>
                <a:ea typeface="Red Hat Display" panose="02010303040201060303" pitchFamily="2" charset="0"/>
                <a:cs typeface="Red Hat Display" panose="02010303040201060303" pitchFamily="2" charset="0"/>
              </a:rPr>
              <a:t> (called links)</a:t>
            </a:r>
          </a:p>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The links connect the devices to each other. </a:t>
            </a:r>
          </a:p>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The </a:t>
            </a:r>
            <a:r>
              <a:rPr lang="en-US" sz="2000" b="1" dirty="0">
                <a:latin typeface="Red Hat Display" panose="02010303040201060303" pitchFamily="2" charset="0"/>
                <a:ea typeface="Red Hat Display" panose="02010303040201060303" pitchFamily="2" charset="0"/>
                <a:cs typeface="Red Hat Display" panose="02010303040201060303" pitchFamily="2" charset="0"/>
              </a:rPr>
              <a:t>rules for how these connections send information </a:t>
            </a:r>
            <a:r>
              <a:rPr lang="en-US" sz="2000" dirty="0">
                <a:latin typeface="Red Hat Display" panose="02010303040201060303" pitchFamily="2" charset="0"/>
                <a:ea typeface="Red Hat Display" panose="02010303040201060303" pitchFamily="2" charset="0"/>
                <a:cs typeface="Red Hat Display" panose="02010303040201060303" pitchFamily="2" charset="0"/>
              </a:rPr>
              <a:t>are called communication protocols.</a:t>
            </a:r>
          </a:p>
          <a:p>
            <a:pPr algn="just">
              <a:lnSpc>
                <a:spcPct val="200000"/>
              </a:lnSpc>
            </a:pPr>
            <a:r>
              <a:rPr lang="en-US" sz="2000" dirty="0">
                <a:latin typeface="Red Hat Display" panose="02010303040201060303" pitchFamily="2" charset="0"/>
                <a:ea typeface="Red Hat Display" panose="02010303040201060303" pitchFamily="2" charset="0"/>
                <a:cs typeface="Red Hat Display" panose="02010303040201060303" pitchFamily="2" charset="0"/>
              </a:rPr>
              <a:t>The </a:t>
            </a:r>
            <a:r>
              <a:rPr lang="en-US" sz="2000" b="1" dirty="0">
                <a:latin typeface="Red Hat Display" panose="02010303040201060303" pitchFamily="2" charset="0"/>
                <a:ea typeface="Red Hat Display" panose="02010303040201060303" pitchFamily="2" charset="0"/>
                <a:cs typeface="Red Hat Display" panose="02010303040201060303" pitchFamily="2" charset="0"/>
              </a:rPr>
              <a:t>starting and ending points </a:t>
            </a:r>
            <a:r>
              <a:rPr lang="en-US" sz="2000" dirty="0">
                <a:latin typeface="Red Hat Display" panose="02010303040201060303" pitchFamily="2" charset="0"/>
                <a:ea typeface="Red Hat Display" panose="02010303040201060303" pitchFamily="2" charset="0"/>
                <a:cs typeface="Red Hat Display" panose="02010303040201060303" pitchFamily="2" charset="0"/>
              </a:rPr>
              <a:t>of these communications are often called ports.</a:t>
            </a:r>
            <a:endParaRPr lang="en-IN" sz="2000"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8207801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922909"/>
          </a:xfrm>
        </p:spPr>
        <p:txBody>
          <a:bodyPr>
            <a:normAutofit/>
          </a:bodyPr>
          <a:lstStyle/>
          <a:p>
            <a:r>
              <a:rPr lang="en-IN" sz="3600" dirty="0"/>
              <a:t>Components Of Computer Network</a:t>
            </a:r>
          </a:p>
        </p:txBody>
      </p:sp>
      <p:pic>
        <p:nvPicPr>
          <p:cNvPr id="1026" name="Picture 2" descr="Key components of computer Network | by Hasons Tech | Medium">
            <a:extLst>
              <a:ext uri="{FF2B5EF4-FFF2-40B4-BE49-F238E27FC236}">
                <a16:creationId xmlns:a16="http://schemas.microsoft.com/office/drawing/2014/main" id="{1AE47426-D9C8-7AED-AAF7-A9B63CCA9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2692" y="1431607"/>
            <a:ext cx="8606615" cy="5163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0335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35272"/>
          </a:xfrm>
        </p:spPr>
        <p:txBody>
          <a:bodyPr/>
          <a:lstStyle/>
          <a:p>
            <a:r>
              <a:rPr lang="en-US" dirty="0"/>
              <a:t>Network devices</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2" y="1255363"/>
            <a:ext cx="4715308" cy="5306305"/>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 Interface Card (NIC)</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Repeater</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Hub</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Bridges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4" name="Content Placeholder 2">
            <a:extLst>
              <a:ext uri="{FF2B5EF4-FFF2-40B4-BE49-F238E27FC236}">
                <a16:creationId xmlns:a16="http://schemas.microsoft.com/office/drawing/2014/main" id="{0E534080-6741-A5AE-5BC1-7AE282614E54}"/>
              </a:ext>
            </a:extLst>
          </p:cNvPr>
          <p:cNvSpPr txBox="1">
            <a:spLocks/>
          </p:cNvSpPr>
          <p:nvPr/>
        </p:nvSpPr>
        <p:spPr>
          <a:xfrm>
            <a:off x="6096000" y="1255363"/>
            <a:ext cx="4715308" cy="5306305"/>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Switches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Routers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Gateways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5139174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Network Interface Card </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0753189" cy="5290807"/>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NIC is a hardware component, typically a circuit board or chip on a computer.</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 NIC provides a computer with a dedicated, full-time connection to a network.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implements the physical layer circuitry necessary for communicating with a data link layer standard, such as Ethernet or Wi-Fi.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Each card represents a device and can prepare, transmit and control the flow of data on the network.</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NIC operates as a middleman between a computer and a data network.</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488472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NICs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134533"/>
            <a:ext cx="10753189" cy="5427135"/>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Wireless</a:t>
            </a:r>
            <a:r>
              <a:rPr lang="en-US" dirty="0">
                <a:latin typeface="Red Hat Display" panose="02010303040201060303" pitchFamily="2" charset="0"/>
                <a:ea typeface="Red Hat Display" panose="02010303040201060303" pitchFamily="2" charset="0"/>
                <a:cs typeface="Red Hat Display" panose="02010303040201060303" pitchFamily="2" charset="0"/>
              </a:rPr>
              <a:t>. NICs that use an antenna to provide wireless reception through radio frequency waves. Wi-Fi connections use wireless NICs.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Wired</a:t>
            </a:r>
            <a:r>
              <a:rPr lang="en-US" dirty="0">
                <a:latin typeface="Red Hat Display" panose="02010303040201060303" pitchFamily="2" charset="0"/>
                <a:ea typeface="Red Hat Display" panose="02010303040201060303" pitchFamily="2" charset="0"/>
                <a:cs typeface="Red Hat Display" panose="02010303040201060303" pitchFamily="2" charset="0"/>
              </a:rPr>
              <a:t>.  NICs that have input jacks made for cables. Ethernet is the most popular wired LAN technology.</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USB</a:t>
            </a:r>
            <a:r>
              <a:rPr lang="en-US" dirty="0">
                <a:latin typeface="Red Hat Display" panose="02010303040201060303" pitchFamily="2" charset="0"/>
                <a:ea typeface="Red Hat Display" panose="02010303040201060303" pitchFamily="2" charset="0"/>
                <a:cs typeface="Red Hat Display" panose="02010303040201060303" pitchFamily="2" charset="0"/>
              </a:rPr>
              <a:t>. NICs that provide network connections through a device plugged into the USB port.</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Fiber optics</a:t>
            </a:r>
            <a:r>
              <a:rPr lang="en-US" dirty="0">
                <a:latin typeface="Red Hat Display" panose="02010303040201060303" pitchFamily="2" charset="0"/>
                <a:ea typeface="Red Hat Display" panose="02010303040201060303" pitchFamily="2" charset="0"/>
                <a:cs typeface="Red Hat Display" panose="02010303040201060303" pitchFamily="2" charset="0"/>
              </a:rPr>
              <a:t>. NICs used as a high-speed support system for network traffic handling on server computers. </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2613355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NIC components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131376"/>
            <a:ext cx="10753189" cy="5430292"/>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Speed</a:t>
            </a:r>
            <a:r>
              <a:rPr lang="en-US" dirty="0">
                <a:latin typeface="Red Hat Display" panose="02010303040201060303" pitchFamily="2" charset="0"/>
                <a:ea typeface="Red Hat Display" panose="02010303040201060303" pitchFamily="2" charset="0"/>
                <a:cs typeface="Red Hat Display" panose="02010303040201060303" pitchFamily="2" charset="0"/>
              </a:rPr>
              <a:t>. All NICs have a speed rating in terms of </a:t>
            </a:r>
            <a:r>
              <a:rPr lang="en-US" i="1" dirty="0">
                <a:latin typeface="Red Hat Display" panose="02010303040201060303" pitchFamily="2" charset="0"/>
                <a:ea typeface="Red Hat Display" panose="02010303040201060303" pitchFamily="2" charset="0"/>
                <a:cs typeface="Red Hat Display" panose="02010303040201060303" pitchFamily="2" charset="0"/>
              </a:rPr>
              <a:t>megabits per second </a:t>
            </a:r>
            <a:r>
              <a:rPr lang="en-US" dirty="0">
                <a:latin typeface="Red Hat Display" panose="02010303040201060303" pitchFamily="2" charset="0"/>
                <a:ea typeface="Red Hat Display" panose="02010303040201060303" pitchFamily="2" charset="0"/>
                <a:cs typeface="Red Hat Display" panose="02010303040201060303" pitchFamily="2" charset="0"/>
              </a:rPr>
              <a:t>(Mbps) that determines the card's performance in a network. The average Ethernet NICs come in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10 Mbps,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100 Mbps,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1000 Mbps and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1 gigabits per second varieties.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Driver</a:t>
            </a:r>
            <a:r>
              <a:rPr lang="en-US" dirty="0">
                <a:latin typeface="Red Hat Display" panose="02010303040201060303" pitchFamily="2" charset="0"/>
                <a:ea typeface="Red Hat Display" panose="02010303040201060303" pitchFamily="2" charset="0"/>
                <a:cs typeface="Red Hat Display" panose="02010303040201060303" pitchFamily="2" charset="0"/>
              </a:rPr>
              <a:t>. The required software that passes data between the computer's operating system and the NIC.</a:t>
            </a:r>
          </a:p>
        </p:txBody>
      </p:sp>
    </p:spTree>
    <p:extLst>
      <p:ext uri="{BB962C8B-B14F-4D97-AF65-F5344CB8AC3E}">
        <p14:creationId xmlns:p14="http://schemas.microsoft.com/office/powerpoint/2010/main" val="31378959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NIC components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131376"/>
            <a:ext cx="10753189" cy="5430292"/>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MAC address</a:t>
            </a:r>
            <a:r>
              <a:rPr lang="en-US" dirty="0">
                <a:latin typeface="Red Hat Display" panose="02010303040201060303" pitchFamily="2" charset="0"/>
                <a:ea typeface="Red Hat Display" panose="02010303040201060303" pitchFamily="2" charset="0"/>
                <a:cs typeface="Red Hat Display" panose="02010303040201060303" pitchFamily="2" charset="0"/>
              </a:rPr>
              <a:t>. Unique, unchangeable media access control addresses, also known as physical network addresses, are assigned to NICs. Router. </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LED</a:t>
            </a:r>
            <a:r>
              <a:rPr lang="en-US" dirty="0">
                <a:latin typeface="Red Hat Display" panose="02010303040201060303" pitchFamily="2" charset="0"/>
                <a:ea typeface="Red Hat Display" panose="02010303040201060303" pitchFamily="2" charset="0"/>
                <a:cs typeface="Red Hat Display" panose="02010303040201060303" pitchFamily="2" charset="0"/>
              </a:rPr>
              <a:t> </a:t>
            </a:r>
            <a:r>
              <a:rPr lang="en-US" b="1" dirty="0">
                <a:latin typeface="Red Hat Display" panose="02010303040201060303" pitchFamily="2" charset="0"/>
                <a:ea typeface="Red Hat Display" panose="02010303040201060303" pitchFamily="2" charset="0"/>
                <a:cs typeface="Red Hat Display" panose="02010303040201060303" pitchFamily="2" charset="0"/>
              </a:rPr>
              <a:t>indicator</a:t>
            </a:r>
            <a:r>
              <a:rPr lang="en-US" dirty="0">
                <a:latin typeface="Red Hat Display" panose="02010303040201060303" pitchFamily="2" charset="0"/>
                <a:ea typeface="Red Hat Display" panose="02010303040201060303" pitchFamily="2" charset="0"/>
                <a:cs typeface="Red Hat Display" panose="02010303040201060303" pitchFamily="2" charset="0"/>
              </a:rPr>
              <a:t>. Most NICs have an LED indicator integrated into the connector to notify the user when the network connects and data transmission occurs.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Router</a:t>
            </a:r>
            <a:r>
              <a:rPr lang="en-US" dirty="0">
                <a:latin typeface="Red Hat Display" panose="02010303040201060303" pitchFamily="2" charset="0"/>
                <a:ea typeface="Red Hat Display" panose="02010303040201060303" pitchFamily="2" charset="0"/>
                <a:cs typeface="Red Hat Display" panose="02010303040201060303" pitchFamily="2" charset="0"/>
              </a:rPr>
              <a:t>. A router is sometimes needed to enable communication between a computer and other devices. In this case, the NIC connects to the router which is connected to the internet.</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0655348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Repeater</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320917"/>
            <a:ext cx="5232630" cy="1969354"/>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Repeaters are defined as a networking device that is used to </a:t>
            </a:r>
            <a:r>
              <a:rPr lang="en-US" b="1" dirty="0">
                <a:latin typeface="Red Hat Display" panose="02010303040201060303" pitchFamily="2" charset="0"/>
                <a:ea typeface="Red Hat Display" panose="02010303040201060303" pitchFamily="2" charset="0"/>
                <a:cs typeface="Red Hat Display" panose="02010303040201060303" pitchFamily="2" charset="0"/>
              </a:rPr>
              <a:t>amplify and generate the incoming signal</a:t>
            </a:r>
            <a:r>
              <a:rPr lang="en-US" dirty="0">
                <a:latin typeface="Red Hat Display" panose="02010303040201060303" pitchFamily="2" charset="0"/>
                <a:ea typeface="Red Hat Display" panose="02010303040201060303" pitchFamily="2" charset="0"/>
                <a:cs typeface="Red Hat Display" panose="02010303040201060303" pitchFamily="2" charset="0"/>
              </a:rPr>
              <a:t>. </a:t>
            </a:r>
          </a:p>
        </p:txBody>
      </p:sp>
      <p:pic>
        <p:nvPicPr>
          <p:cNvPr id="1026" name="Picture 2" descr="Repeater">
            <a:extLst>
              <a:ext uri="{FF2B5EF4-FFF2-40B4-BE49-F238E27FC236}">
                <a16:creationId xmlns:a16="http://schemas.microsoft.com/office/drawing/2014/main" id="{FFC85FA9-49ED-FFAC-A5B1-E45191B235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320917"/>
            <a:ext cx="5697522" cy="2108083"/>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6B6627EA-1723-62B2-6C0C-491F7A446F38}"/>
              </a:ext>
            </a:extLst>
          </p:cNvPr>
          <p:cNvSpPr txBox="1">
            <a:spLocks/>
          </p:cNvSpPr>
          <p:nvPr/>
        </p:nvSpPr>
        <p:spPr>
          <a:xfrm>
            <a:off x="600611" y="3290271"/>
            <a:ext cx="10753189" cy="2737053"/>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main aim of using a repeater is to </a:t>
            </a:r>
            <a:r>
              <a:rPr lang="en-US" b="1" dirty="0">
                <a:latin typeface="Red Hat Display" panose="02010303040201060303" pitchFamily="2" charset="0"/>
                <a:ea typeface="Red Hat Display" panose="02010303040201060303" pitchFamily="2" charset="0"/>
                <a:cs typeface="Red Hat Display" panose="02010303040201060303" pitchFamily="2" charset="0"/>
              </a:rPr>
              <a:t>increase the networking distance </a:t>
            </a:r>
            <a:r>
              <a:rPr lang="en-US" dirty="0">
                <a:latin typeface="Red Hat Display" panose="02010303040201060303" pitchFamily="2" charset="0"/>
                <a:ea typeface="Red Hat Display" panose="02010303040201060303" pitchFamily="2" charset="0"/>
                <a:cs typeface="Red Hat Display" panose="02010303040201060303" pitchFamily="2" charset="0"/>
              </a:rPr>
              <a:t>by increasing the strength and quality of signals.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major advantage of using a repeater is that it provides with transfer of data with more security and over a long distance.</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6072686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Features of Repeaters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0753189" cy="5290807"/>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Repeater can </a:t>
            </a:r>
            <a:r>
              <a:rPr lang="en-US" b="1" dirty="0">
                <a:latin typeface="Red Hat Display" panose="02010303040201060303" pitchFamily="2" charset="0"/>
                <a:ea typeface="Red Hat Display" panose="02010303040201060303" pitchFamily="2" charset="0"/>
                <a:cs typeface="Red Hat Display" panose="02010303040201060303" pitchFamily="2" charset="0"/>
              </a:rPr>
              <a:t>regenerate the signal</a:t>
            </a:r>
            <a:r>
              <a:rPr lang="en-US" dirty="0">
                <a:latin typeface="Red Hat Display" panose="02010303040201060303" pitchFamily="2" charset="0"/>
                <a:ea typeface="Red Hat Display" panose="02010303040201060303" pitchFamily="2" charset="0"/>
                <a:cs typeface="Red Hat Display" panose="02010303040201060303" pitchFamily="2" charset="0"/>
              </a:rPr>
              <a:t> without modifying it.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Repeaters can be used in </a:t>
            </a:r>
            <a:r>
              <a:rPr lang="en-US" b="1" dirty="0">
                <a:latin typeface="Red Hat Display" panose="02010303040201060303" pitchFamily="2" charset="0"/>
                <a:ea typeface="Red Hat Display" panose="02010303040201060303" pitchFamily="2" charset="0"/>
                <a:cs typeface="Red Hat Display" panose="02010303040201060303" pitchFamily="2" charset="0"/>
              </a:rPr>
              <a:t>analog signals </a:t>
            </a:r>
            <a:r>
              <a:rPr lang="en-US" dirty="0">
                <a:latin typeface="Red Hat Display" panose="02010303040201060303" pitchFamily="2" charset="0"/>
                <a:ea typeface="Red Hat Display" panose="02010303040201060303" pitchFamily="2" charset="0"/>
                <a:cs typeface="Red Hat Display" panose="02010303040201060303" pitchFamily="2" charset="0"/>
              </a:rPr>
              <a:t>and</a:t>
            </a:r>
            <a:r>
              <a:rPr lang="en-US" b="1" dirty="0">
                <a:latin typeface="Red Hat Display" panose="02010303040201060303" pitchFamily="2" charset="0"/>
                <a:ea typeface="Red Hat Display" panose="02010303040201060303" pitchFamily="2" charset="0"/>
                <a:cs typeface="Red Hat Display" panose="02010303040201060303" pitchFamily="2" charset="0"/>
              </a:rPr>
              <a:t> digital signals</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Repeaters can </a:t>
            </a:r>
            <a:r>
              <a:rPr lang="en-US" b="1" dirty="0">
                <a:latin typeface="Red Hat Display" panose="02010303040201060303" pitchFamily="2" charset="0"/>
                <a:ea typeface="Red Hat Display" panose="02010303040201060303" pitchFamily="2" charset="0"/>
                <a:cs typeface="Red Hat Display" panose="02010303040201060303" pitchFamily="2" charset="0"/>
              </a:rPr>
              <a:t>extend the range </a:t>
            </a:r>
            <a:r>
              <a:rPr lang="en-US" dirty="0">
                <a:latin typeface="Red Hat Display" panose="02010303040201060303" pitchFamily="2" charset="0"/>
                <a:ea typeface="Red Hat Display" panose="02010303040201060303" pitchFamily="2" charset="0"/>
                <a:cs typeface="Red Hat Display" panose="02010303040201060303" pitchFamily="2" charset="0"/>
              </a:rPr>
              <a:t>of networks.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Dynamic networking is supported by repeater.</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Use of Repeaters reduces error and loss of data.</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Power is </a:t>
            </a:r>
            <a:r>
              <a:rPr lang="en-US" b="1" dirty="0">
                <a:latin typeface="Red Hat Display" panose="02010303040201060303" pitchFamily="2" charset="0"/>
                <a:ea typeface="Red Hat Display" panose="02010303040201060303" pitchFamily="2" charset="0"/>
                <a:cs typeface="Red Hat Display" panose="02010303040201060303" pitchFamily="2" charset="0"/>
              </a:rPr>
              <a:t>required for working </a:t>
            </a:r>
            <a:r>
              <a:rPr lang="en-US" dirty="0">
                <a:latin typeface="Red Hat Display" panose="02010303040201060303" pitchFamily="2" charset="0"/>
                <a:ea typeface="Red Hat Display" panose="02010303040201060303" pitchFamily="2" charset="0"/>
                <a:cs typeface="Red Hat Display" panose="02010303040201060303" pitchFamily="2" charset="0"/>
              </a:rPr>
              <a:t>of repeaters.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Using repeater can add complexity in the network.</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0433971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Repeaters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According to the type of Signals</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lvl="1" algn="just">
              <a:lnSpc>
                <a:spcPct val="200000"/>
              </a:lnSpc>
            </a:pPr>
            <a:r>
              <a:rPr lang="en-US" i="1" dirty="0">
                <a:latin typeface="Red Hat Display" panose="02010303040201060303" pitchFamily="2" charset="0"/>
                <a:ea typeface="Red Hat Display" panose="02010303040201060303" pitchFamily="2" charset="0"/>
                <a:cs typeface="Red Hat Display" panose="02010303040201060303" pitchFamily="2" charset="0"/>
              </a:rPr>
              <a:t>Analog Repeater </a:t>
            </a:r>
            <a:r>
              <a:rPr lang="en-US" dirty="0">
                <a:latin typeface="Red Hat Display" panose="02010303040201060303" pitchFamily="2" charset="0"/>
                <a:ea typeface="Red Hat Display" panose="02010303040201060303" pitchFamily="2" charset="0"/>
                <a:cs typeface="Red Hat Display" panose="02010303040201060303" pitchFamily="2" charset="0"/>
              </a:rPr>
              <a:t>- Analog repeaters are used to amplify only the analog signals.</a:t>
            </a:r>
          </a:p>
          <a:p>
            <a:pPr lvl="1" algn="just">
              <a:lnSpc>
                <a:spcPct val="200000"/>
              </a:lnSpc>
            </a:pPr>
            <a:r>
              <a:rPr lang="en-US" i="1" dirty="0">
                <a:latin typeface="Red Hat Display" panose="02010303040201060303" pitchFamily="2" charset="0"/>
                <a:ea typeface="Red Hat Display" panose="02010303040201060303" pitchFamily="2" charset="0"/>
                <a:cs typeface="Red Hat Display" panose="02010303040201060303" pitchFamily="2" charset="0"/>
              </a:rPr>
              <a:t>Digital Repeater </a:t>
            </a:r>
            <a:r>
              <a:rPr lang="en-US" dirty="0">
                <a:latin typeface="Red Hat Display" panose="02010303040201060303" pitchFamily="2" charset="0"/>
                <a:ea typeface="Red Hat Display" panose="02010303040201060303" pitchFamily="2" charset="0"/>
                <a:cs typeface="Red Hat Display" panose="02010303040201060303" pitchFamily="2" charset="0"/>
              </a:rPr>
              <a:t>- Digital repeaters are the type of repeaters that does not amplify digital signal but regenerates it directly.</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According to the type of Connected Network</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lvl="1" algn="just">
              <a:lnSpc>
                <a:spcPct val="200000"/>
              </a:lnSpc>
            </a:pPr>
            <a:r>
              <a:rPr lang="en-US" i="1" dirty="0">
                <a:latin typeface="Red Hat Display" panose="02010303040201060303" pitchFamily="2" charset="0"/>
                <a:ea typeface="Red Hat Display" panose="02010303040201060303" pitchFamily="2" charset="0"/>
                <a:cs typeface="Red Hat Display" panose="02010303040201060303" pitchFamily="2" charset="0"/>
              </a:rPr>
              <a:t>Wired Repeaters </a:t>
            </a:r>
            <a:r>
              <a:rPr lang="en-US" dirty="0">
                <a:latin typeface="Red Hat Display" panose="02010303040201060303" pitchFamily="2" charset="0"/>
                <a:ea typeface="Red Hat Display" panose="02010303040201060303" pitchFamily="2" charset="0"/>
                <a:cs typeface="Red Hat Display" panose="02010303040201060303" pitchFamily="2" charset="0"/>
              </a:rPr>
              <a:t>- Wired repeater receives the signal and repeats it within LAN.</a:t>
            </a:r>
          </a:p>
          <a:p>
            <a:pPr lvl="1" algn="just">
              <a:lnSpc>
                <a:spcPct val="200000"/>
              </a:lnSpc>
            </a:pPr>
            <a:r>
              <a:rPr lang="en-US" i="1" dirty="0">
                <a:latin typeface="Red Hat Display" panose="02010303040201060303" pitchFamily="2" charset="0"/>
                <a:ea typeface="Red Hat Display" panose="02010303040201060303" pitchFamily="2" charset="0"/>
                <a:cs typeface="Red Hat Display" panose="02010303040201060303" pitchFamily="2" charset="0"/>
              </a:rPr>
              <a:t>Wireless Repeaters </a:t>
            </a:r>
            <a:r>
              <a:rPr lang="en-US" dirty="0">
                <a:latin typeface="Red Hat Display" panose="02010303040201060303" pitchFamily="2" charset="0"/>
                <a:ea typeface="Red Hat Display" panose="02010303040201060303" pitchFamily="2" charset="0"/>
                <a:cs typeface="Red Hat Display" panose="02010303040201060303" pitchFamily="2" charset="0"/>
              </a:rPr>
              <a:t>- Wireless repeaters are used in wireless Local Area Networks(LANs) and Cellular networks. A router connected in the network sends wireless signal to the repeater.</a:t>
            </a:r>
          </a:p>
        </p:txBody>
      </p:sp>
    </p:spTree>
    <p:extLst>
      <p:ext uri="{BB962C8B-B14F-4D97-AF65-F5344CB8AC3E}">
        <p14:creationId xmlns:p14="http://schemas.microsoft.com/office/powerpoint/2010/main" val="23331124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Repeaters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According to the Domain of LAN Networks</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lvl="1" algn="just">
              <a:lnSpc>
                <a:spcPct val="200000"/>
              </a:lnSpc>
            </a:pPr>
            <a:r>
              <a:rPr lang="en-US" i="1" dirty="0">
                <a:latin typeface="Red Hat Display" panose="02010303040201060303" pitchFamily="2" charset="0"/>
                <a:ea typeface="Red Hat Display" panose="02010303040201060303" pitchFamily="2" charset="0"/>
                <a:cs typeface="Red Hat Display" panose="02010303040201060303" pitchFamily="2" charset="0"/>
              </a:rPr>
              <a:t>Local Repeaters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Local Repeaters are used in Local Area Networks where the network is very small.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distance between the devices connected in network is very small.</a:t>
            </a:r>
          </a:p>
          <a:p>
            <a:pPr lvl="1" algn="just">
              <a:lnSpc>
                <a:spcPct val="200000"/>
              </a:lnSpc>
            </a:pPr>
            <a:r>
              <a:rPr lang="en-US" i="1" dirty="0">
                <a:latin typeface="Red Hat Display" panose="02010303040201060303" pitchFamily="2" charset="0"/>
                <a:ea typeface="Red Hat Display" panose="02010303040201060303" pitchFamily="2" charset="0"/>
                <a:cs typeface="Red Hat Display" panose="02010303040201060303" pitchFamily="2" charset="0"/>
              </a:rPr>
              <a:t>Remote Repeaters</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Remote Repeaters are used in Local Area Networks where network is very large.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distance between the devices connected in network is more.</a:t>
            </a:r>
          </a:p>
        </p:txBody>
      </p:sp>
    </p:spTree>
    <p:extLst>
      <p:ext uri="{BB962C8B-B14F-4D97-AF65-F5344CB8AC3E}">
        <p14:creationId xmlns:p14="http://schemas.microsoft.com/office/powerpoint/2010/main" val="32627626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Repeaters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IN" b="1" dirty="0">
                <a:latin typeface="Red Hat Display" panose="02010303040201060303" pitchFamily="2" charset="0"/>
                <a:ea typeface="Red Hat Display" panose="02010303040201060303" pitchFamily="2" charset="0"/>
                <a:cs typeface="Red Hat Display" panose="02010303040201060303" pitchFamily="2" charset="0"/>
              </a:rPr>
              <a:t>Based on Technologies</a:t>
            </a:r>
          </a:p>
          <a:p>
            <a:pPr lvl="1" algn="just">
              <a:lnSpc>
                <a:spcPct val="200000"/>
              </a:lnSpc>
            </a:pPr>
            <a:r>
              <a:rPr lang="en-IN" i="1" dirty="0">
                <a:latin typeface="Red Hat Display" panose="02010303040201060303" pitchFamily="2" charset="0"/>
                <a:ea typeface="Red Hat Display" panose="02010303040201060303" pitchFamily="2" charset="0"/>
                <a:cs typeface="Red Hat Display" panose="02010303040201060303" pitchFamily="2" charset="0"/>
              </a:rPr>
              <a:t>Microwave Repeater</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use of microwave repeater depends upon the distance between two devices.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In microwave repeaters high power transmitters and sensitive receivers are used.</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a:p>
            <a:pPr lvl="1" algn="just">
              <a:lnSpc>
                <a:spcPct val="200000"/>
              </a:lnSpc>
            </a:pPr>
            <a:r>
              <a:rPr lang="en-IN" i="1" dirty="0">
                <a:latin typeface="Red Hat Display" panose="02010303040201060303" pitchFamily="2" charset="0"/>
                <a:ea typeface="Red Hat Display" panose="02010303040201060303" pitchFamily="2" charset="0"/>
                <a:cs typeface="Red Hat Display" panose="02010303040201060303" pitchFamily="2" charset="0"/>
              </a:rPr>
              <a:t>Optical Repeater</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Optical repeaters are defined as a type of repeaters that are used for the communication of fiber optic communication systems.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Optical repeaters can amplify and reshape the operations before they are being transmitted. </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9105476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Repeaters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IN" b="1" dirty="0">
                <a:latin typeface="Red Hat Display" panose="02010303040201060303" pitchFamily="2" charset="0"/>
                <a:ea typeface="Red Hat Display" panose="02010303040201060303" pitchFamily="2" charset="0"/>
                <a:cs typeface="Red Hat Display" panose="02010303040201060303" pitchFamily="2" charset="0"/>
              </a:rPr>
              <a:t>Based on Technologies</a:t>
            </a:r>
          </a:p>
          <a:p>
            <a:pPr lvl="1" algn="just">
              <a:lnSpc>
                <a:spcPct val="200000"/>
              </a:lnSpc>
            </a:pPr>
            <a:r>
              <a:rPr lang="en-IN" i="1" dirty="0">
                <a:latin typeface="Red Hat Display" panose="02010303040201060303" pitchFamily="2" charset="0"/>
                <a:ea typeface="Red Hat Display" panose="02010303040201060303" pitchFamily="2" charset="0"/>
                <a:cs typeface="Red Hat Display" panose="02010303040201060303" pitchFamily="2" charset="0"/>
              </a:rPr>
              <a:t>Radio Repeater</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Radio repeater is a type of repeater that transmits all the received data into radio signals.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Radio repeaters has two different ports namely radio receiver and radio transmitter. </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a:p>
            <a:pPr lvl="1" algn="just">
              <a:lnSpc>
                <a:spcPct val="200000"/>
              </a:lnSpc>
            </a:pPr>
            <a:r>
              <a:rPr lang="en-IN" i="1" dirty="0">
                <a:latin typeface="Red Hat Display" panose="02010303040201060303" pitchFamily="2" charset="0"/>
                <a:ea typeface="Red Hat Display" panose="02010303040201060303" pitchFamily="2" charset="0"/>
                <a:cs typeface="Red Hat Display" panose="02010303040201060303" pitchFamily="2" charset="0"/>
              </a:rPr>
              <a:t>Telephone Repeater</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Telephone repeaters are type of repeaters used for long distance networks.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Amplifiers having transistors are used in telephone repeater.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Telephone repeaters are majorly used for communication in submarines.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7636741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Advantages &amp; Disadvantages of repeater</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557939" y="2186940"/>
            <a:ext cx="4397058" cy="3913061"/>
          </a:xfrm>
        </p:spPr>
        <p:txBody>
          <a:bodyPr>
            <a:normAutofit/>
          </a:bodyPr>
          <a:lstStyle/>
          <a:p>
            <a:pPr algn="just">
              <a:lnSpc>
                <a:spcPct val="200000"/>
              </a:lnSpc>
            </a:pPr>
            <a:r>
              <a:rPr lang="en-IN" dirty="0">
                <a:latin typeface="Red Hat Display" panose="02010303040201060303" pitchFamily="2" charset="0"/>
                <a:ea typeface="Red Hat Display" panose="02010303040201060303" pitchFamily="2" charset="0"/>
                <a:cs typeface="Red Hat Display" panose="02010303040201060303" pitchFamily="2" charset="0"/>
              </a:rPr>
              <a:t>Better Performance of Network</a:t>
            </a:r>
          </a:p>
          <a:p>
            <a:pPr algn="just">
              <a:lnSpc>
                <a:spcPct val="200000"/>
              </a:lnSpc>
            </a:pPr>
            <a:r>
              <a:rPr lang="en-IN" dirty="0">
                <a:latin typeface="Red Hat Display" panose="02010303040201060303" pitchFamily="2" charset="0"/>
                <a:ea typeface="Red Hat Display" panose="02010303040201060303" pitchFamily="2" charset="0"/>
                <a:cs typeface="Red Hat Display" panose="02010303040201060303" pitchFamily="2" charset="0"/>
              </a:rPr>
              <a:t>Cost Effective</a:t>
            </a:r>
          </a:p>
          <a:p>
            <a:pPr algn="just">
              <a:lnSpc>
                <a:spcPct val="200000"/>
              </a:lnSpc>
            </a:pPr>
            <a:r>
              <a:rPr lang="en-IN" dirty="0">
                <a:latin typeface="Red Hat Display" panose="02010303040201060303" pitchFamily="2" charset="0"/>
                <a:ea typeface="Red Hat Display" panose="02010303040201060303" pitchFamily="2" charset="0"/>
                <a:cs typeface="Red Hat Display" panose="02010303040201060303" pitchFamily="2" charset="0"/>
              </a:rPr>
              <a:t>Extends the network</a:t>
            </a:r>
          </a:p>
          <a:p>
            <a:pPr algn="just">
              <a:lnSpc>
                <a:spcPct val="200000"/>
              </a:lnSpc>
            </a:pPr>
            <a:r>
              <a:rPr lang="en-IN" dirty="0">
                <a:latin typeface="Red Hat Display" panose="02010303040201060303" pitchFamily="2" charset="0"/>
                <a:ea typeface="Red Hat Display" panose="02010303040201060303" pitchFamily="2" charset="0"/>
                <a:cs typeface="Red Hat Display" panose="02010303040201060303" pitchFamily="2" charset="0"/>
              </a:rPr>
              <a:t>No Physical barriers</a:t>
            </a:r>
          </a:p>
          <a:p>
            <a:pPr algn="just">
              <a:lnSpc>
                <a:spcPct val="200000"/>
              </a:lnSpc>
            </a:pPr>
            <a:r>
              <a:rPr lang="en-IN" dirty="0">
                <a:latin typeface="Red Hat Display" panose="02010303040201060303" pitchFamily="2" charset="0"/>
                <a:ea typeface="Red Hat Display" panose="02010303040201060303" pitchFamily="2" charset="0"/>
                <a:cs typeface="Red Hat Display" panose="02010303040201060303" pitchFamily="2" charset="0"/>
              </a:rPr>
              <a:t>Enhanced Signals</a:t>
            </a:r>
          </a:p>
        </p:txBody>
      </p:sp>
      <p:sp>
        <p:nvSpPr>
          <p:cNvPr id="4" name="Content Placeholder 2">
            <a:extLst>
              <a:ext uri="{FF2B5EF4-FFF2-40B4-BE49-F238E27FC236}">
                <a16:creationId xmlns:a16="http://schemas.microsoft.com/office/drawing/2014/main" id="{7E0C7FBF-89E0-4101-18FC-702014BB22C5}"/>
              </a:ext>
            </a:extLst>
          </p:cNvPr>
          <p:cNvSpPr txBox="1">
            <a:spLocks/>
          </p:cNvSpPr>
          <p:nvPr/>
        </p:nvSpPr>
        <p:spPr>
          <a:xfrm>
            <a:off x="6096000" y="1472340"/>
            <a:ext cx="4397058" cy="5089328"/>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5" name="TextBox 4">
            <a:extLst>
              <a:ext uri="{FF2B5EF4-FFF2-40B4-BE49-F238E27FC236}">
                <a16:creationId xmlns:a16="http://schemas.microsoft.com/office/drawing/2014/main" id="{32A8B0ED-A946-E7BF-B8D8-1EA1A1627028}"/>
              </a:ext>
            </a:extLst>
          </p:cNvPr>
          <p:cNvSpPr txBox="1"/>
          <p:nvPr/>
        </p:nvSpPr>
        <p:spPr>
          <a:xfrm>
            <a:off x="1698942" y="1498068"/>
            <a:ext cx="1944763" cy="461665"/>
          </a:xfrm>
          <a:prstGeom prst="rect">
            <a:avLst/>
          </a:prstGeom>
          <a:noFill/>
        </p:spPr>
        <p:txBody>
          <a:bodyPr wrap="none" rtlCol="0">
            <a:spAutoFit/>
          </a:bodyPr>
          <a:lstStyle/>
          <a:p>
            <a:r>
              <a:rPr lang="en-US" sz="2400" b="1" dirty="0">
                <a:latin typeface="Red Hat Display" panose="02010303040201060303" pitchFamily="2" charset="0"/>
                <a:ea typeface="Red Hat Display" panose="02010303040201060303" pitchFamily="2" charset="0"/>
                <a:cs typeface="Red Hat Display" panose="02010303040201060303" pitchFamily="2" charset="0"/>
              </a:rPr>
              <a:t>Advantages</a:t>
            </a:r>
            <a:endParaRPr lang="en-IN" sz="2400" b="1"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6" name="Content Placeholder 2">
            <a:extLst>
              <a:ext uri="{FF2B5EF4-FFF2-40B4-BE49-F238E27FC236}">
                <a16:creationId xmlns:a16="http://schemas.microsoft.com/office/drawing/2014/main" id="{E98A4BC3-01CE-10A7-78BF-174E641390CD}"/>
              </a:ext>
            </a:extLst>
          </p:cNvPr>
          <p:cNvSpPr txBox="1">
            <a:spLocks/>
          </p:cNvSpPr>
          <p:nvPr/>
        </p:nvSpPr>
        <p:spPr>
          <a:xfrm>
            <a:off x="6266289" y="2186940"/>
            <a:ext cx="4397058" cy="391306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r>
              <a:rPr lang="en-IN" dirty="0">
                <a:latin typeface="Red Hat Display" panose="02010303040201060303" pitchFamily="2" charset="0"/>
                <a:ea typeface="Red Hat Display" panose="02010303040201060303" pitchFamily="2" charset="0"/>
                <a:cs typeface="Red Hat Display" panose="02010303040201060303" pitchFamily="2" charset="0"/>
              </a:rPr>
              <a:t>Network Traffic</a:t>
            </a:r>
          </a:p>
          <a:p>
            <a:pPr algn="just">
              <a:lnSpc>
                <a:spcPct val="200000"/>
              </a:lnSpc>
            </a:pPr>
            <a:r>
              <a:rPr lang="en-IN" dirty="0">
                <a:latin typeface="Red Hat Display" panose="02010303040201060303" pitchFamily="2" charset="0"/>
                <a:ea typeface="Red Hat Display" panose="02010303040201060303" pitchFamily="2" charset="0"/>
                <a:cs typeface="Red Hat Display" panose="02010303040201060303" pitchFamily="2" charset="0"/>
              </a:rPr>
              <a:t>Network Segmentation</a:t>
            </a:r>
          </a:p>
          <a:p>
            <a:pPr algn="just">
              <a:lnSpc>
                <a:spcPct val="200000"/>
              </a:lnSpc>
            </a:pPr>
            <a:r>
              <a:rPr lang="en-IN" dirty="0">
                <a:latin typeface="Red Hat Display" panose="02010303040201060303" pitchFamily="2" charset="0"/>
                <a:ea typeface="Red Hat Display" panose="02010303040201060303" pitchFamily="2" charset="0"/>
                <a:cs typeface="Red Hat Display" panose="02010303040201060303" pitchFamily="2" charset="0"/>
              </a:rPr>
              <a:t>Limited number of repeaters</a:t>
            </a:r>
          </a:p>
          <a:p>
            <a:pPr algn="just">
              <a:lnSpc>
                <a:spcPct val="200000"/>
              </a:lnSpc>
            </a:pPr>
            <a:r>
              <a:rPr lang="en-IN" dirty="0">
                <a:latin typeface="Red Hat Display" panose="02010303040201060303" pitchFamily="2" charset="0"/>
                <a:ea typeface="Red Hat Display" panose="02010303040201060303" pitchFamily="2" charset="0"/>
                <a:cs typeface="Red Hat Display" panose="02010303040201060303" pitchFamily="2" charset="0"/>
              </a:rPr>
              <a:t>Collision Domain</a:t>
            </a:r>
          </a:p>
          <a:p>
            <a:pPr algn="just">
              <a:lnSpc>
                <a:spcPct val="200000"/>
              </a:lnSpc>
            </a:pP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7" name="TextBox 6">
            <a:extLst>
              <a:ext uri="{FF2B5EF4-FFF2-40B4-BE49-F238E27FC236}">
                <a16:creationId xmlns:a16="http://schemas.microsoft.com/office/drawing/2014/main" id="{C3B9DF13-C473-58FC-8549-EBCFC5E6609B}"/>
              </a:ext>
            </a:extLst>
          </p:cNvPr>
          <p:cNvSpPr txBox="1"/>
          <p:nvPr/>
        </p:nvSpPr>
        <p:spPr>
          <a:xfrm>
            <a:off x="7288053" y="1498068"/>
            <a:ext cx="2353529" cy="461665"/>
          </a:xfrm>
          <a:prstGeom prst="rect">
            <a:avLst/>
          </a:prstGeom>
          <a:noFill/>
        </p:spPr>
        <p:txBody>
          <a:bodyPr wrap="none" rtlCol="0">
            <a:spAutoFit/>
          </a:bodyPr>
          <a:lstStyle/>
          <a:p>
            <a:r>
              <a:rPr lang="en-US" sz="2400" b="1" dirty="0">
                <a:latin typeface="Red Hat Display" panose="02010303040201060303" pitchFamily="2" charset="0"/>
                <a:ea typeface="Red Hat Display" panose="02010303040201060303" pitchFamily="2" charset="0"/>
                <a:cs typeface="Red Hat Display" panose="02010303040201060303" pitchFamily="2" charset="0"/>
              </a:rPr>
              <a:t>Disadvantages</a:t>
            </a:r>
            <a:endParaRPr lang="en-IN" sz="2400" b="1"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2749780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Hub</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Hub in networking plays a vital role in </a:t>
            </a:r>
            <a:r>
              <a:rPr lang="en-US" b="1" dirty="0">
                <a:latin typeface="Red Hat Display" panose="02010303040201060303" pitchFamily="2" charset="0"/>
                <a:ea typeface="Red Hat Display" panose="02010303040201060303" pitchFamily="2" charset="0"/>
                <a:cs typeface="Red Hat Display" panose="02010303040201060303" pitchFamily="2" charset="0"/>
              </a:rPr>
              <a:t>data transmission </a:t>
            </a:r>
            <a:r>
              <a:rPr lang="en-US" dirty="0">
                <a:latin typeface="Red Hat Display" panose="02010303040201060303" pitchFamily="2" charset="0"/>
                <a:ea typeface="Red Hat Display" panose="02010303040201060303" pitchFamily="2" charset="0"/>
                <a:cs typeface="Red Hat Display" panose="02010303040201060303" pitchFamily="2" charset="0"/>
              </a:rPr>
              <a:t>and</a:t>
            </a:r>
            <a:r>
              <a:rPr lang="en-US" b="1" dirty="0">
                <a:latin typeface="Red Hat Display" panose="02010303040201060303" pitchFamily="2" charset="0"/>
                <a:ea typeface="Red Hat Display" panose="02010303040201060303" pitchFamily="2" charset="0"/>
                <a:cs typeface="Red Hat Display" panose="02010303040201060303" pitchFamily="2" charset="0"/>
              </a:rPr>
              <a:t> broadcasting</a:t>
            </a:r>
            <a:r>
              <a:rPr lang="en-US" dirty="0">
                <a:latin typeface="Red Hat Display" panose="02010303040201060303" pitchFamily="2" charset="0"/>
                <a:ea typeface="Red Hat Display" panose="02010303040201060303" pitchFamily="2" charset="0"/>
                <a:cs typeface="Red Hat Display" panose="02010303040201060303" pitchFamily="2" charset="0"/>
              </a:rPr>
              <a:t>.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 hub is a hardware device used at the physical layer to connect multiple devices in the network.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Hubs are widely used to </a:t>
            </a:r>
            <a:r>
              <a:rPr lang="en-US" b="1" dirty="0">
                <a:latin typeface="Red Hat Display" panose="02010303040201060303" pitchFamily="2" charset="0"/>
                <a:ea typeface="Red Hat Display" panose="02010303040201060303" pitchFamily="2" charset="0"/>
                <a:cs typeface="Red Hat Display" panose="02010303040201060303" pitchFamily="2" charset="0"/>
              </a:rPr>
              <a:t>connect LANs</a:t>
            </a:r>
            <a:r>
              <a:rPr lang="en-US" dirty="0">
                <a:latin typeface="Red Hat Display" panose="02010303040201060303" pitchFamily="2" charset="0"/>
                <a:ea typeface="Red Hat Display" panose="02010303040201060303" pitchFamily="2" charset="0"/>
                <a:cs typeface="Red Hat Display" panose="02010303040201060303" pitchFamily="2" charset="0"/>
              </a:rPr>
              <a:t>.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 hub has multiple ports &amp; </a:t>
            </a:r>
            <a:r>
              <a:rPr lang="en-US" b="1" dirty="0">
                <a:latin typeface="Red Hat Display" panose="02010303040201060303" pitchFamily="2" charset="0"/>
                <a:ea typeface="Red Hat Display" panose="02010303040201060303" pitchFamily="2" charset="0"/>
                <a:cs typeface="Red Hat Display" panose="02010303040201060303" pitchFamily="2" charset="0"/>
              </a:rPr>
              <a:t>cannot filter the data</a:t>
            </a:r>
            <a:r>
              <a:rPr lang="en-US" dirty="0">
                <a:latin typeface="Red Hat Display" panose="02010303040201060303" pitchFamily="2" charset="0"/>
                <a:ea typeface="Red Hat Display" panose="02010303040201060303" pitchFamily="2" charset="0"/>
                <a:cs typeface="Red Hat Display" panose="02010303040201060303" pitchFamily="2" charset="0"/>
              </a:rPr>
              <a:t>, i.e. it cannot identify the destination of the packet, So </a:t>
            </a:r>
            <a:r>
              <a:rPr lang="en-US" b="1" dirty="0">
                <a:latin typeface="Red Hat Display" panose="02010303040201060303" pitchFamily="2" charset="0"/>
                <a:ea typeface="Red Hat Display" panose="02010303040201060303" pitchFamily="2" charset="0"/>
                <a:cs typeface="Red Hat Display" panose="02010303040201060303" pitchFamily="2" charset="0"/>
              </a:rPr>
              <a:t>it broadcasts </a:t>
            </a:r>
            <a:r>
              <a:rPr lang="en-US" dirty="0">
                <a:latin typeface="Red Hat Display" panose="02010303040201060303" pitchFamily="2" charset="0"/>
                <a:ea typeface="Red Hat Display" panose="02010303040201060303" pitchFamily="2" charset="0"/>
                <a:cs typeface="Red Hat Display" panose="02010303040201060303" pitchFamily="2" charset="0"/>
              </a:rPr>
              <a:t>or sends the message to each port.</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2848120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Types of Network Hubs</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IN" b="1" dirty="0">
                <a:latin typeface="Red Hat Display" panose="02010303040201060303" pitchFamily="2" charset="0"/>
                <a:ea typeface="Red Hat Display" panose="02010303040201060303" pitchFamily="2" charset="0"/>
                <a:cs typeface="Red Hat Display" panose="02010303040201060303" pitchFamily="2" charset="0"/>
              </a:rPr>
              <a:t>Active Hub</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They have a power supply for </a:t>
            </a:r>
            <a:r>
              <a:rPr lang="en-US" b="1" dirty="0">
                <a:latin typeface="Red Hat Display" panose="02010303040201060303" pitchFamily="2" charset="0"/>
                <a:ea typeface="Red Hat Display" panose="02010303040201060303" pitchFamily="2" charset="0"/>
                <a:cs typeface="Red Hat Display" panose="02010303040201060303" pitchFamily="2" charset="0"/>
              </a:rPr>
              <a:t>regenerating</a:t>
            </a:r>
            <a:r>
              <a:rPr lang="en-US" dirty="0">
                <a:latin typeface="Red Hat Display" panose="02010303040201060303" pitchFamily="2" charset="0"/>
                <a:ea typeface="Red Hat Display" panose="02010303040201060303" pitchFamily="2" charset="0"/>
                <a:cs typeface="Red Hat Display" panose="02010303040201060303" pitchFamily="2" charset="0"/>
              </a:rPr>
              <a:t>, and </a:t>
            </a:r>
            <a:r>
              <a:rPr lang="en-US" b="1" dirty="0">
                <a:latin typeface="Red Hat Display" panose="02010303040201060303" pitchFamily="2" charset="0"/>
                <a:ea typeface="Red Hat Display" panose="02010303040201060303" pitchFamily="2" charset="0"/>
                <a:cs typeface="Red Hat Display" panose="02010303040201060303" pitchFamily="2" charset="0"/>
              </a:rPr>
              <a:t>amplifying</a:t>
            </a:r>
            <a:r>
              <a:rPr lang="en-US" dirty="0">
                <a:latin typeface="Red Hat Display" panose="02010303040201060303" pitchFamily="2" charset="0"/>
                <a:ea typeface="Red Hat Display" panose="02010303040201060303" pitchFamily="2" charset="0"/>
                <a:cs typeface="Red Hat Display" panose="02010303040201060303" pitchFamily="2" charset="0"/>
              </a:rPr>
              <a:t> the signals.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When a port sends weak signaled data, </a:t>
            </a:r>
            <a:r>
              <a:rPr lang="en-US" b="1" dirty="0">
                <a:latin typeface="Red Hat Display" panose="02010303040201060303" pitchFamily="2" charset="0"/>
                <a:ea typeface="Red Hat Display" panose="02010303040201060303" pitchFamily="2" charset="0"/>
                <a:cs typeface="Red Hat Display" panose="02010303040201060303" pitchFamily="2" charset="0"/>
              </a:rPr>
              <a:t>the hub regenerates the signal and strengthens it</a:t>
            </a:r>
            <a:r>
              <a:rPr lang="en-US" dirty="0">
                <a:latin typeface="Red Hat Display" panose="02010303040201060303" pitchFamily="2" charset="0"/>
                <a:ea typeface="Red Hat Display" panose="02010303040201060303" pitchFamily="2" charset="0"/>
                <a:cs typeface="Red Hat Display" panose="02010303040201060303" pitchFamily="2" charset="0"/>
              </a:rPr>
              <a:t>, then send it further to all other ports.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Active hubs are </a:t>
            </a:r>
            <a:r>
              <a:rPr lang="en-US" b="1" dirty="0">
                <a:latin typeface="Red Hat Display" panose="02010303040201060303" pitchFamily="2" charset="0"/>
                <a:ea typeface="Red Hat Display" panose="02010303040201060303" pitchFamily="2" charset="0"/>
                <a:cs typeface="Red Hat Display" panose="02010303040201060303" pitchFamily="2" charset="0"/>
              </a:rPr>
              <a:t>expensive</a:t>
            </a:r>
            <a:r>
              <a:rPr lang="en-US" dirty="0">
                <a:latin typeface="Red Hat Display" panose="02010303040201060303" pitchFamily="2" charset="0"/>
                <a:ea typeface="Red Hat Display" panose="02010303040201060303" pitchFamily="2" charset="0"/>
                <a:cs typeface="Red Hat Display" panose="02010303040201060303" pitchFamily="2" charset="0"/>
              </a:rPr>
              <a:t> in costs as compared to passive hubs. </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7144429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Types of Network Hubs</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IN" b="1" dirty="0">
                <a:latin typeface="Red Hat Display" panose="02010303040201060303" pitchFamily="2" charset="0"/>
                <a:ea typeface="Red Hat Display" panose="02010303040201060303" pitchFamily="2" charset="0"/>
                <a:cs typeface="Red Hat Display" panose="02010303040201060303" pitchFamily="2" charset="0"/>
              </a:rPr>
              <a:t>Passive Hub</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Passive hubs are simply used to </a:t>
            </a:r>
            <a:r>
              <a:rPr lang="en-US" b="1" dirty="0">
                <a:latin typeface="Red Hat Display" panose="02010303040201060303" pitchFamily="2" charset="0"/>
                <a:ea typeface="Red Hat Display" panose="02010303040201060303" pitchFamily="2" charset="0"/>
                <a:cs typeface="Red Hat Display" panose="02010303040201060303" pitchFamily="2" charset="0"/>
              </a:rPr>
              <a:t>connect signals from different network cables </a:t>
            </a:r>
            <a:r>
              <a:rPr lang="en-US" dirty="0">
                <a:latin typeface="Red Hat Display" panose="02010303040201060303" pitchFamily="2" charset="0"/>
                <a:ea typeface="Red Hat Display" panose="02010303040201060303" pitchFamily="2" charset="0"/>
                <a:cs typeface="Red Hat Display" panose="02010303040201060303" pitchFamily="2" charset="0"/>
              </a:rPr>
              <a:t>as they do not have any computerized element.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They simply connect the wires of different devices in the star topology.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Passive hubs </a:t>
            </a:r>
            <a:r>
              <a:rPr lang="en-US" b="1" dirty="0">
                <a:latin typeface="Red Hat Display" panose="02010303040201060303" pitchFamily="2" charset="0"/>
                <a:ea typeface="Red Hat Display" panose="02010303040201060303" pitchFamily="2" charset="0"/>
                <a:cs typeface="Red Hat Display" panose="02010303040201060303" pitchFamily="2" charset="0"/>
              </a:rPr>
              <a:t>do not do any processing or signal regeneration </a:t>
            </a:r>
            <a:r>
              <a:rPr lang="en-US" dirty="0">
                <a:latin typeface="Red Hat Display" panose="02010303040201060303" pitchFamily="2" charset="0"/>
                <a:ea typeface="Red Hat Display" panose="02010303040201060303" pitchFamily="2" charset="0"/>
                <a:cs typeface="Red Hat Display" panose="02010303040201060303" pitchFamily="2" charset="0"/>
              </a:rPr>
              <a:t>and that’s why do not require electricity the most they can do is they can copy or repeat the signal.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can’t </a:t>
            </a:r>
            <a:r>
              <a:rPr lang="en-US" b="1" dirty="0">
                <a:latin typeface="Red Hat Display" panose="02010303040201060303" pitchFamily="2" charset="0"/>
                <a:ea typeface="Red Hat Display" panose="02010303040201060303" pitchFamily="2" charset="0"/>
                <a:cs typeface="Red Hat Display" panose="02010303040201060303" pitchFamily="2" charset="0"/>
              </a:rPr>
              <a:t>amplify </a:t>
            </a:r>
            <a:r>
              <a:rPr lang="en-US" dirty="0">
                <a:latin typeface="Red Hat Display" panose="02010303040201060303" pitchFamily="2" charset="0"/>
                <a:ea typeface="Red Hat Display" panose="02010303040201060303" pitchFamily="2" charset="0"/>
                <a:cs typeface="Red Hat Display" panose="02010303040201060303" pitchFamily="2" charset="0"/>
              </a:rPr>
              <a:t>or </a:t>
            </a:r>
            <a:r>
              <a:rPr lang="en-US" b="1" dirty="0">
                <a:latin typeface="Red Hat Display" panose="02010303040201060303" pitchFamily="2" charset="0"/>
                <a:ea typeface="Red Hat Display" panose="02010303040201060303" pitchFamily="2" charset="0"/>
                <a:cs typeface="Red Hat Display" panose="02010303040201060303" pitchFamily="2" charset="0"/>
              </a:rPr>
              <a:t>strengthen the signal</a:t>
            </a:r>
            <a:r>
              <a:rPr lang="en-US" dirty="0">
                <a:latin typeface="Red Hat Display" panose="02010303040201060303" pitchFamily="2" charset="0"/>
                <a:ea typeface="Red Hat Display" panose="02010303040201060303" pitchFamily="2" charset="0"/>
                <a:cs typeface="Red Hat Display" panose="02010303040201060303" pitchFamily="2" charset="0"/>
              </a:rPr>
              <a:t>. </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4978781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Types of Network Hubs</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IN" b="1" dirty="0">
                <a:latin typeface="Red Hat Display" panose="02010303040201060303" pitchFamily="2" charset="0"/>
                <a:ea typeface="Red Hat Display" panose="02010303040201060303" pitchFamily="2" charset="0"/>
                <a:cs typeface="Red Hat Display" panose="02010303040201060303" pitchFamily="2" charset="0"/>
              </a:rPr>
              <a:t>Intelligent Hub</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Intelligent hubs as the name suggests are </a:t>
            </a:r>
            <a:r>
              <a:rPr lang="en-US" b="1" dirty="0">
                <a:latin typeface="Red Hat Display" panose="02010303040201060303" pitchFamily="2" charset="0"/>
                <a:ea typeface="Red Hat Display" panose="02010303040201060303" pitchFamily="2" charset="0"/>
                <a:cs typeface="Red Hat Display" panose="02010303040201060303" pitchFamily="2" charset="0"/>
              </a:rPr>
              <a:t>smarter</a:t>
            </a:r>
            <a:r>
              <a:rPr lang="en-US" dirty="0">
                <a:latin typeface="Red Hat Display" panose="02010303040201060303" pitchFamily="2" charset="0"/>
                <a:ea typeface="Red Hat Display" panose="02010303040201060303" pitchFamily="2" charset="0"/>
                <a:cs typeface="Red Hat Display" panose="02010303040201060303" pitchFamily="2" charset="0"/>
              </a:rPr>
              <a:t> than active and passive hubs.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intelligent hub comprises a special monitoring unit named a </a:t>
            </a:r>
            <a:r>
              <a:rPr lang="en-US" u="sng" dirty="0">
                <a:latin typeface="Red Hat Display" panose="02010303040201060303" pitchFamily="2" charset="0"/>
                <a:ea typeface="Red Hat Display" panose="02010303040201060303" pitchFamily="2" charset="0"/>
                <a:cs typeface="Red Hat Display" panose="02010303040201060303" pitchFamily="2" charset="0"/>
              </a:rPr>
              <a:t>Management Information Base (MIB).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This is software that helps in analyzing and troubleshooting network problems. Intelligent hubs work similarly to active hubs but with some management features.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Like it can monitor the traffic of the network and the configuration of a port. </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6513022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Features of Hubs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0753189" cy="5290807"/>
          </a:xfrm>
        </p:spPr>
        <p:txBody>
          <a:bodyPr>
            <a:normAutofit/>
          </a:bodyPr>
          <a:lstStyle/>
          <a:p>
            <a:pPr marL="0" indent="0" algn="just">
              <a:lnSpc>
                <a:spcPct val="200000"/>
              </a:lnSpc>
              <a:buNone/>
            </a:pPr>
            <a:r>
              <a:rPr lang="en-US" dirty="0">
                <a:latin typeface="Red Hat Display" panose="02010303040201060303" pitchFamily="2" charset="0"/>
                <a:ea typeface="Red Hat Display" panose="02010303040201060303" pitchFamily="2" charset="0"/>
                <a:cs typeface="Red Hat Display" panose="02010303040201060303" pitchFamily="2" charset="0"/>
              </a:rPr>
              <a:t>Hubs are the hardware device that operates in the </a:t>
            </a:r>
            <a:r>
              <a:rPr lang="en-US" b="1" dirty="0">
                <a:latin typeface="Red Hat Display" panose="02010303040201060303" pitchFamily="2" charset="0"/>
                <a:ea typeface="Red Hat Display" panose="02010303040201060303" pitchFamily="2" charset="0"/>
                <a:cs typeface="Red Hat Display" panose="02010303040201060303" pitchFamily="2" charset="0"/>
              </a:rPr>
              <a:t>physical layer </a:t>
            </a:r>
            <a:r>
              <a:rPr lang="en-US" dirty="0">
                <a:latin typeface="Red Hat Display" panose="02010303040201060303" pitchFamily="2" charset="0"/>
                <a:ea typeface="Red Hat Display" panose="02010303040201060303" pitchFamily="2" charset="0"/>
                <a:cs typeface="Red Hat Display" panose="02010303040201060303" pitchFamily="2" charset="0"/>
              </a:rPr>
              <a:t>of the OSI model.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supports </a:t>
            </a:r>
            <a:r>
              <a:rPr lang="en-US" b="1" dirty="0">
                <a:latin typeface="Red Hat Display" panose="02010303040201060303" pitchFamily="2" charset="0"/>
                <a:ea typeface="Red Hat Display" panose="02010303040201060303" pitchFamily="2" charset="0"/>
                <a:cs typeface="Red Hat Display" panose="02010303040201060303" pitchFamily="2" charset="0"/>
              </a:rPr>
              <a:t>half-duplex</a:t>
            </a:r>
            <a:r>
              <a:rPr lang="en-US" dirty="0">
                <a:latin typeface="Red Hat Display" panose="02010303040201060303" pitchFamily="2" charset="0"/>
                <a:ea typeface="Red Hat Display" panose="02010303040201060303" pitchFamily="2" charset="0"/>
                <a:cs typeface="Red Hat Display" panose="02010303040201060303" pitchFamily="2" charset="0"/>
              </a:rPr>
              <a:t> transmission</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works with </a:t>
            </a:r>
            <a:r>
              <a:rPr lang="en-US" b="1" dirty="0">
                <a:latin typeface="Red Hat Display" panose="02010303040201060303" pitchFamily="2" charset="0"/>
                <a:ea typeface="Red Hat Display" panose="02010303040201060303" pitchFamily="2" charset="0"/>
                <a:cs typeface="Red Hat Display" panose="02010303040201060303" pitchFamily="2" charset="0"/>
              </a:rPr>
              <a:t>shared bandwidth </a:t>
            </a:r>
            <a:r>
              <a:rPr lang="en-US" dirty="0">
                <a:latin typeface="Red Hat Display" panose="02010303040201060303" pitchFamily="2" charset="0"/>
                <a:ea typeface="Red Hat Display" panose="02010303040201060303" pitchFamily="2" charset="0"/>
                <a:cs typeface="Red Hat Display" panose="02010303040201060303" pitchFamily="2" charset="0"/>
              </a:rPr>
              <a:t>and</a:t>
            </a:r>
            <a:r>
              <a:rPr lang="en-US" b="1" dirty="0">
                <a:latin typeface="Red Hat Display" panose="02010303040201060303" pitchFamily="2" charset="0"/>
                <a:ea typeface="Red Hat Display" panose="02010303040201060303" pitchFamily="2" charset="0"/>
                <a:cs typeface="Red Hat Display" panose="02010303040201060303" pitchFamily="2" charset="0"/>
              </a:rPr>
              <a:t> broadcasting</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hub can provide </a:t>
            </a:r>
            <a:r>
              <a:rPr lang="en-US" b="1" dirty="0">
                <a:latin typeface="Red Hat Display" panose="02010303040201060303" pitchFamily="2" charset="0"/>
                <a:ea typeface="Red Hat Display" panose="02010303040201060303" pitchFamily="2" charset="0"/>
                <a:cs typeface="Red Hat Display" panose="02010303040201060303" pitchFamily="2" charset="0"/>
              </a:rPr>
              <a:t>a high data transmission rate </a:t>
            </a:r>
            <a:r>
              <a:rPr lang="en-US" dirty="0">
                <a:latin typeface="Red Hat Display" panose="02010303040201060303" pitchFamily="2" charset="0"/>
                <a:ea typeface="Red Hat Display" panose="02010303040201060303" pitchFamily="2" charset="0"/>
                <a:cs typeface="Red Hat Display" panose="02010303040201060303" pitchFamily="2" charset="0"/>
              </a:rPr>
              <a:t>to different devices.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can </a:t>
            </a:r>
            <a:r>
              <a:rPr lang="en-US" b="1" dirty="0">
                <a:latin typeface="Red Hat Display" panose="02010303040201060303" pitchFamily="2" charset="0"/>
                <a:ea typeface="Red Hat Display" panose="02010303040201060303" pitchFamily="2" charset="0"/>
                <a:cs typeface="Red Hat Display" panose="02010303040201060303" pitchFamily="2" charset="0"/>
              </a:rPr>
              <a:t>detect collisions </a:t>
            </a:r>
            <a:r>
              <a:rPr lang="en-US" dirty="0">
                <a:latin typeface="Red Hat Display" panose="02010303040201060303" pitchFamily="2" charset="0"/>
                <a:ea typeface="Red Hat Display" panose="02010303040201060303" pitchFamily="2" charset="0"/>
                <a:cs typeface="Red Hat Display" panose="02010303040201060303" pitchFamily="2" charset="0"/>
              </a:rPr>
              <a:t>in the network and send the jamming signal to each port.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Hub does not support </a:t>
            </a:r>
            <a:r>
              <a:rPr lang="en-US" b="1" dirty="0">
                <a:latin typeface="Red Hat Display" panose="02010303040201060303" pitchFamily="2" charset="0"/>
                <a:ea typeface="Red Hat Display" panose="02010303040201060303" pitchFamily="2" charset="0"/>
                <a:cs typeface="Red Hat Display" panose="02010303040201060303" pitchFamily="2" charset="0"/>
              </a:rPr>
              <a:t>Virtual LAN (VLAN) </a:t>
            </a:r>
            <a:r>
              <a:rPr lang="en-US" dirty="0">
                <a:latin typeface="Red Hat Display" panose="02010303040201060303" pitchFamily="2" charset="0"/>
                <a:ea typeface="Red Hat Display" panose="02010303040201060303" pitchFamily="2" charset="0"/>
                <a:cs typeface="Red Hat Display" panose="02010303040201060303" pitchFamily="2" charset="0"/>
              </a:rPr>
              <a:t>and </a:t>
            </a:r>
            <a:r>
              <a:rPr lang="en-US" b="1" dirty="0">
                <a:latin typeface="Red Hat Display" panose="02010303040201060303" pitchFamily="2" charset="0"/>
                <a:ea typeface="Red Hat Display" panose="02010303040201060303" pitchFamily="2" charset="0"/>
                <a:cs typeface="Red Hat Display" panose="02010303040201060303" pitchFamily="2" charset="0"/>
              </a:rPr>
              <a:t>spanning tree protocol</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is unable to </a:t>
            </a:r>
            <a:r>
              <a:rPr lang="en-US" b="1" dirty="0">
                <a:latin typeface="Red Hat Display" panose="02010303040201060303" pitchFamily="2" charset="0"/>
                <a:ea typeface="Red Hat Display" panose="02010303040201060303" pitchFamily="2" charset="0"/>
                <a:cs typeface="Red Hat Display" panose="02010303040201060303" pitchFamily="2" charset="0"/>
              </a:rPr>
              <a:t>filter the data </a:t>
            </a:r>
            <a:r>
              <a:rPr lang="en-US" dirty="0">
                <a:latin typeface="Red Hat Display" panose="02010303040201060303" pitchFamily="2" charset="0"/>
                <a:ea typeface="Red Hat Display" panose="02010303040201060303" pitchFamily="2" charset="0"/>
                <a:cs typeface="Red Hat Display" panose="02010303040201060303" pitchFamily="2" charset="0"/>
              </a:rPr>
              <a:t>and hence transmit or broadcast it to each port.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cannot find the best route/ shortest path to send any data, which makes it an </a:t>
            </a:r>
            <a:r>
              <a:rPr lang="en-US" b="1" dirty="0">
                <a:latin typeface="Red Hat Display" panose="02010303040201060303" pitchFamily="2" charset="0"/>
                <a:ea typeface="Red Hat Display" panose="02010303040201060303" pitchFamily="2" charset="0"/>
                <a:cs typeface="Red Hat Display" panose="02010303040201060303" pitchFamily="2" charset="0"/>
              </a:rPr>
              <a:t>inefficient device</a:t>
            </a:r>
            <a:r>
              <a:rPr lang="en-US" dirty="0">
                <a:latin typeface="Red Hat Display" panose="02010303040201060303" pitchFamily="2" charset="0"/>
                <a:ea typeface="Red Hat Display" panose="02010303040201060303" pitchFamily="2" charset="0"/>
                <a:cs typeface="Red Hat Display" panose="02010303040201060303" pitchFamily="2" charset="0"/>
              </a:rPr>
              <a:t>. </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3695894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Advantages &amp; Disadvantages of HUB</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557938" y="2186940"/>
            <a:ext cx="5180709" cy="3913061"/>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is less expensive.</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does not impact network performance.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Hub support different network media</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4" name="Content Placeholder 2">
            <a:extLst>
              <a:ext uri="{FF2B5EF4-FFF2-40B4-BE49-F238E27FC236}">
                <a16:creationId xmlns:a16="http://schemas.microsoft.com/office/drawing/2014/main" id="{7E0C7FBF-89E0-4101-18FC-702014BB22C5}"/>
              </a:ext>
            </a:extLst>
          </p:cNvPr>
          <p:cNvSpPr txBox="1">
            <a:spLocks/>
          </p:cNvSpPr>
          <p:nvPr/>
        </p:nvSpPr>
        <p:spPr>
          <a:xfrm>
            <a:off x="6096000" y="1472340"/>
            <a:ext cx="4397058" cy="5089328"/>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5" name="TextBox 4">
            <a:extLst>
              <a:ext uri="{FF2B5EF4-FFF2-40B4-BE49-F238E27FC236}">
                <a16:creationId xmlns:a16="http://schemas.microsoft.com/office/drawing/2014/main" id="{32A8B0ED-A946-E7BF-B8D8-1EA1A1627028}"/>
              </a:ext>
            </a:extLst>
          </p:cNvPr>
          <p:cNvSpPr txBox="1"/>
          <p:nvPr/>
        </p:nvSpPr>
        <p:spPr>
          <a:xfrm>
            <a:off x="1698942" y="1498068"/>
            <a:ext cx="1944763" cy="461665"/>
          </a:xfrm>
          <a:prstGeom prst="rect">
            <a:avLst/>
          </a:prstGeom>
          <a:noFill/>
        </p:spPr>
        <p:txBody>
          <a:bodyPr wrap="none" rtlCol="0">
            <a:spAutoFit/>
          </a:bodyPr>
          <a:lstStyle/>
          <a:p>
            <a:r>
              <a:rPr lang="en-US" sz="2400" b="1" dirty="0">
                <a:latin typeface="Red Hat Display" panose="02010303040201060303" pitchFamily="2" charset="0"/>
                <a:ea typeface="Red Hat Display" panose="02010303040201060303" pitchFamily="2" charset="0"/>
                <a:cs typeface="Red Hat Display" panose="02010303040201060303" pitchFamily="2" charset="0"/>
              </a:rPr>
              <a:t>Advantages</a:t>
            </a:r>
            <a:endParaRPr lang="en-IN" sz="2400" b="1"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6" name="Content Placeholder 2">
            <a:extLst>
              <a:ext uri="{FF2B5EF4-FFF2-40B4-BE49-F238E27FC236}">
                <a16:creationId xmlns:a16="http://schemas.microsoft.com/office/drawing/2014/main" id="{E98A4BC3-01CE-10A7-78BF-174E641390CD}"/>
              </a:ext>
            </a:extLst>
          </p:cNvPr>
          <p:cNvSpPr txBox="1">
            <a:spLocks/>
          </p:cNvSpPr>
          <p:nvPr/>
        </p:nvSpPr>
        <p:spPr>
          <a:xfrm>
            <a:off x="6266289" y="2186940"/>
            <a:ext cx="5367772" cy="3913061"/>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cannot find the best/ shortest path of the network.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No mechanism for traffic detection.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No mechanism for data filtration.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Not capable of connecting to different network topologies like token ring, ethernet, etc. </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7" name="TextBox 6">
            <a:extLst>
              <a:ext uri="{FF2B5EF4-FFF2-40B4-BE49-F238E27FC236}">
                <a16:creationId xmlns:a16="http://schemas.microsoft.com/office/drawing/2014/main" id="{C3B9DF13-C473-58FC-8549-EBCFC5E6609B}"/>
              </a:ext>
            </a:extLst>
          </p:cNvPr>
          <p:cNvSpPr txBox="1"/>
          <p:nvPr/>
        </p:nvSpPr>
        <p:spPr>
          <a:xfrm>
            <a:off x="7288053" y="1498068"/>
            <a:ext cx="2353529" cy="461665"/>
          </a:xfrm>
          <a:prstGeom prst="rect">
            <a:avLst/>
          </a:prstGeom>
          <a:noFill/>
        </p:spPr>
        <p:txBody>
          <a:bodyPr wrap="none" rtlCol="0">
            <a:spAutoFit/>
          </a:bodyPr>
          <a:lstStyle/>
          <a:p>
            <a:r>
              <a:rPr lang="en-US" sz="2400" b="1" dirty="0">
                <a:latin typeface="Red Hat Display" panose="02010303040201060303" pitchFamily="2" charset="0"/>
                <a:ea typeface="Red Hat Display" panose="02010303040201060303" pitchFamily="2" charset="0"/>
                <a:cs typeface="Red Hat Display" panose="02010303040201060303" pitchFamily="2" charset="0"/>
              </a:rPr>
              <a:t>Disadvantages</a:t>
            </a:r>
            <a:endParaRPr lang="en-IN" sz="2400" b="1"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0563034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Bridges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1033450" cy="5290807"/>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Bridges are used to connect two subnetworks that use interchangeable protocols.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combines two LANs to form an extended LAN.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main difference between the bridge and repeater is that the bridge has a penetrating efficiency.</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pic>
        <p:nvPicPr>
          <p:cNvPr id="1026" name="Picture 2" descr="What is a Network Bridge?">
            <a:extLst>
              <a:ext uri="{FF2B5EF4-FFF2-40B4-BE49-F238E27FC236}">
                <a16:creationId xmlns:a16="http://schemas.microsoft.com/office/drawing/2014/main" id="{FCAD4427-FEED-7B4E-3C4B-752239A3CC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9" t="4746" r="1597" b="5898"/>
          <a:stretch/>
        </p:blipFill>
        <p:spPr bwMode="auto">
          <a:xfrm>
            <a:off x="3208866" y="3429000"/>
            <a:ext cx="7357534" cy="3235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57902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Working of Bridges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5495389" cy="5089328"/>
          </a:xfrm>
        </p:spPr>
        <p:txBody>
          <a:bodyPr>
            <a:normAutofit lnSpcReduction="1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 bridge accepts all the packets and amplifies all of them to the other side.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bridges are intelligent devices that allow the passing of only selective packets from them.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 bridge only passes those packets addressed from a node in one network to another node in the other network.</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pic>
        <p:nvPicPr>
          <p:cNvPr id="3074" name="Picture 2">
            <a:extLst>
              <a:ext uri="{FF2B5EF4-FFF2-40B4-BE49-F238E27FC236}">
                <a16:creationId xmlns:a16="http://schemas.microsoft.com/office/drawing/2014/main" id="{4C93A7FE-FAC3-B848-846A-E033032DB0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6139" y="1995945"/>
            <a:ext cx="5295250" cy="4042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01804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Bridges</a:t>
            </a:r>
          </a:p>
        </p:txBody>
      </p:sp>
      <p:pic>
        <p:nvPicPr>
          <p:cNvPr id="4098" name="Picture 2">
            <a:extLst>
              <a:ext uri="{FF2B5EF4-FFF2-40B4-BE49-F238E27FC236}">
                <a16:creationId xmlns:a16="http://schemas.microsoft.com/office/drawing/2014/main" id="{A41FF07B-9667-A5E6-B7B9-1A56C5CF5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6698" y="1582792"/>
            <a:ext cx="9724430" cy="4187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47721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Bridges</a:t>
            </a:r>
          </a:p>
        </p:txBody>
      </p:sp>
      <p:pic>
        <p:nvPicPr>
          <p:cNvPr id="4098" name="Picture 2">
            <a:extLst>
              <a:ext uri="{FF2B5EF4-FFF2-40B4-BE49-F238E27FC236}">
                <a16:creationId xmlns:a16="http://schemas.microsoft.com/office/drawing/2014/main" id="{A41FF07B-9667-A5E6-B7B9-1A56C5CF50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2726" r="70760"/>
          <a:stretch/>
        </p:blipFill>
        <p:spPr bwMode="auto">
          <a:xfrm>
            <a:off x="1161030" y="2869323"/>
            <a:ext cx="2843412" cy="156078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F308DFC-DBAF-0444-4DB9-3CA35AE71478}"/>
              </a:ext>
            </a:extLst>
          </p:cNvPr>
          <p:cNvSpPr>
            <a:spLocks noGrp="1"/>
          </p:cNvSpPr>
          <p:nvPr>
            <p:ph idx="1"/>
          </p:nvPr>
        </p:nvSpPr>
        <p:spPr>
          <a:xfrm>
            <a:off x="4635062" y="1472340"/>
            <a:ext cx="6718738" cy="455008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Transparent Bridges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is also called learning bridges.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Bridge construct its table of terminal addresses on its own as it implements connecting two LANs.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facilitates the source location to create its table. It is self-updating. It is a plug and plays bridge.</a:t>
            </a:r>
          </a:p>
        </p:txBody>
      </p:sp>
    </p:spTree>
    <p:extLst>
      <p:ext uri="{BB962C8B-B14F-4D97-AF65-F5344CB8AC3E}">
        <p14:creationId xmlns:p14="http://schemas.microsoft.com/office/powerpoint/2010/main" val="20250284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Bridges</a:t>
            </a:r>
          </a:p>
        </p:txBody>
      </p:sp>
      <p:pic>
        <p:nvPicPr>
          <p:cNvPr id="4098" name="Picture 2">
            <a:extLst>
              <a:ext uri="{FF2B5EF4-FFF2-40B4-BE49-F238E27FC236}">
                <a16:creationId xmlns:a16="http://schemas.microsoft.com/office/drawing/2014/main" id="{A41FF07B-9667-A5E6-B7B9-1A56C5CF50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095" t="63268" r="-439" b="-291"/>
          <a:stretch/>
        </p:blipFill>
        <p:spPr bwMode="auto">
          <a:xfrm>
            <a:off x="7645400" y="2869323"/>
            <a:ext cx="3048000" cy="1550278"/>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069508D8-5080-594B-3709-94247E9E883F}"/>
              </a:ext>
            </a:extLst>
          </p:cNvPr>
          <p:cNvSpPr txBox="1">
            <a:spLocks/>
          </p:cNvSpPr>
          <p:nvPr/>
        </p:nvSpPr>
        <p:spPr>
          <a:xfrm>
            <a:off x="600611" y="1505606"/>
            <a:ext cx="5879017" cy="4138449"/>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Source Routing Bridge</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This sending terminal means the bridges that the frames should stay.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This type of bridge is used to prevent looping problem.</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419530638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Switches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0753189" cy="5290807"/>
          </a:xfrm>
        </p:spPr>
        <p:txBody>
          <a:bodyPr>
            <a:normAutofit lnSpcReduction="1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Switch is a network device that is used to </a:t>
            </a:r>
            <a:r>
              <a:rPr lang="en-US" b="1" dirty="0">
                <a:latin typeface="Red Hat Display" panose="02010303040201060303" pitchFamily="2" charset="0"/>
                <a:ea typeface="Red Hat Display" panose="02010303040201060303" pitchFamily="2" charset="0"/>
                <a:cs typeface="Red Hat Display" panose="02010303040201060303" pitchFamily="2" charset="0"/>
              </a:rPr>
              <a:t>segment the networks </a:t>
            </a:r>
            <a:r>
              <a:rPr lang="en-US" dirty="0">
                <a:latin typeface="Red Hat Display" panose="02010303040201060303" pitchFamily="2" charset="0"/>
                <a:ea typeface="Red Hat Display" panose="02010303040201060303" pitchFamily="2" charset="0"/>
                <a:cs typeface="Red Hat Display" panose="02010303040201060303" pitchFamily="2" charset="0"/>
              </a:rPr>
              <a:t>into different subnetworks called subnets or LAN segments.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is responsible for </a:t>
            </a:r>
            <a:r>
              <a:rPr lang="en-US" b="1" dirty="0">
                <a:latin typeface="Red Hat Display" panose="02010303040201060303" pitchFamily="2" charset="0"/>
                <a:ea typeface="Red Hat Display" panose="02010303040201060303" pitchFamily="2" charset="0"/>
                <a:cs typeface="Red Hat Display" panose="02010303040201060303" pitchFamily="2" charset="0"/>
              </a:rPr>
              <a:t>filtering and forwarding the packets </a:t>
            </a:r>
            <a:r>
              <a:rPr lang="en-US" dirty="0">
                <a:latin typeface="Red Hat Display" panose="02010303040201060303" pitchFamily="2" charset="0"/>
                <a:ea typeface="Red Hat Display" panose="02010303040201060303" pitchFamily="2" charset="0"/>
                <a:cs typeface="Red Hat Display" panose="02010303040201060303" pitchFamily="2" charset="0"/>
              </a:rPr>
              <a:t>between LAN segments based on </a:t>
            </a:r>
            <a:r>
              <a:rPr lang="en-US" b="1" dirty="0">
                <a:latin typeface="Red Hat Display" panose="02010303040201060303" pitchFamily="2" charset="0"/>
                <a:ea typeface="Red Hat Display" panose="02010303040201060303" pitchFamily="2" charset="0"/>
                <a:cs typeface="Red Hat Display" panose="02010303040201060303" pitchFamily="2" charset="0"/>
              </a:rPr>
              <a:t>MAC</a:t>
            </a:r>
            <a:r>
              <a:rPr lang="en-US" dirty="0">
                <a:latin typeface="Red Hat Display" panose="02010303040201060303" pitchFamily="2" charset="0"/>
                <a:ea typeface="Red Hat Display" panose="02010303040201060303" pitchFamily="2" charset="0"/>
                <a:cs typeface="Red Hat Display" panose="02010303040201060303" pitchFamily="2" charset="0"/>
              </a:rPr>
              <a:t> </a:t>
            </a:r>
            <a:r>
              <a:rPr lang="en-US" b="1" dirty="0">
                <a:latin typeface="Red Hat Display" panose="02010303040201060303" pitchFamily="2" charset="0"/>
                <a:ea typeface="Red Hat Display" panose="02010303040201060303" pitchFamily="2" charset="0"/>
                <a:cs typeface="Red Hat Display" panose="02010303040201060303" pitchFamily="2" charset="0"/>
              </a:rPr>
              <a:t>address</a:t>
            </a:r>
            <a:r>
              <a:rPr lang="en-US" dirty="0">
                <a:latin typeface="Red Hat Display" panose="02010303040201060303" pitchFamily="2" charset="0"/>
                <a:ea typeface="Red Hat Display" panose="02010303040201060303" pitchFamily="2" charset="0"/>
                <a:cs typeface="Red Hat Display" panose="02010303040201060303" pitchFamily="2" charset="0"/>
              </a:rPr>
              <a:t>.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Switches have many ports, and when data arrives at any port, </a:t>
            </a:r>
            <a:r>
              <a:rPr lang="en-US" b="1" dirty="0">
                <a:latin typeface="Red Hat Display" panose="02010303040201060303" pitchFamily="2" charset="0"/>
                <a:ea typeface="Red Hat Display" panose="02010303040201060303" pitchFamily="2" charset="0"/>
                <a:cs typeface="Red Hat Display" panose="02010303040201060303" pitchFamily="2" charset="0"/>
              </a:rPr>
              <a:t>the destination address is examined first </a:t>
            </a:r>
            <a:r>
              <a:rPr lang="en-US" dirty="0">
                <a:latin typeface="Red Hat Display" panose="02010303040201060303" pitchFamily="2" charset="0"/>
                <a:ea typeface="Red Hat Display" panose="02010303040201060303" pitchFamily="2" charset="0"/>
                <a:cs typeface="Red Hat Display" panose="02010303040201060303" pitchFamily="2" charset="0"/>
              </a:rPr>
              <a:t>and some checks are also done and then it is processed to the devices.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Different types of communication are supported here like </a:t>
            </a:r>
            <a:r>
              <a:rPr lang="en-US" b="1" dirty="0">
                <a:latin typeface="Red Hat Display" panose="02010303040201060303" pitchFamily="2" charset="0"/>
                <a:ea typeface="Red Hat Display" panose="02010303040201060303" pitchFamily="2" charset="0"/>
                <a:cs typeface="Red Hat Display" panose="02010303040201060303" pitchFamily="2" charset="0"/>
              </a:rPr>
              <a:t>unicast</a:t>
            </a:r>
            <a:r>
              <a:rPr lang="en-US" dirty="0">
                <a:latin typeface="Red Hat Display" panose="02010303040201060303" pitchFamily="2" charset="0"/>
                <a:ea typeface="Red Hat Display" panose="02010303040201060303" pitchFamily="2" charset="0"/>
                <a:cs typeface="Red Hat Display" panose="02010303040201060303" pitchFamily="2" charset="0"/>
              </a:rPr>
              <a:t>, </a:t>
            </a:r>
            <a:r>
              <a:rPr lang="en-US" b="1" dirty="0">
                <a:latin typeface="Red Hat Display" panose="02010303040201060303" pitchFamily="2" charset="0"/>
                <a:ea typeface="Red Hat Display" panose="02010303040201060303" pitchFamily="2" charset="0"/>
                <a:cs typeface="Red Hat Display" panose="02010303040201060303" pitchFamily="2" charset="0"/>
              </a:rPr>
              <a:t>multicast</a:t>
            </a:r>
            <a:r>
              <a:rPr lang="en-US" dirty="0">
                <a:latin typeface="Red Hat Display" panose="02010303040201060303" pitchFamily="2" charset="0"/>
                <a:ea typeface="Red Hat Display" panose="02010303040201060303" pitchFamily="2" charset="0"/>
                <a:cs typeface="Red Hat Display" panose="02010303040201060303" pitchFamily="2" charset="0"/>
              </a:rPr>
              <a:t>, and </a:t>
            </a:r>
            <a:r>
              <a:rPr lang="en-US" b="1" dirty="0">
                <a:latin typeface="Red Hat Display" panose="02010303040201060303" pitchFamily="2" charset="0"/>
                <a:ea typeface="Red Hat Display" panose="02010303040201060303" pitchFamily="2" charset="0"/>
                <a:cs typeface="Red Hat Display" panose="02010303040201060303" pitchFamily="2" charset="0"/>
              </a:rPr>
              <a:t>broadcast</a:t>
            </a:r>
            <a:r>
              <a:rPr lang="en-US" dirty="0">
                <a:latin typeface="Red Hat Display" panose="02010303040201060303" pitchFamily="2" charset="0"/>
                <a:ea typeface="Red Hat Display" panose="02010303040201060303" pitchFamily="2" charset="0"/>
                <a:cs typeface="Red Hat Display" panose="02010303040201060303" pitchFamily="2" charset="0"/>
              </a:rPr>
              <a:t> communication.</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9174307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Features of Network Switches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operates in Data Link Layer in OSI Model.</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performs error checking before forwarding data.</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transfers the data only to the device that has been addressed.</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allocates each LAN segment a limited bandwidth.</a:t>
            </a:r>
          </a:p>
          <a:p>
            <a:pPr algn="just">
              <a:lnSpc>
                <a:spcPct val="200000"/>
              </a:lnSpc>
            </a:pPr>
            <a:r>
              <a:rPr lang="en-US">
                <a:latin typeface="Red Hat Display" panose="02010303040201060303" pitchFamily="2" charset="0"/>
                <a:ea typeface="Red Hat Display" panose="02010303040201060303" pitchFamily="2" charset="0"/>
                <a:cs typeface="Red Hat Display" panose="02010303040201060303" pitchFamily="2" charset="0"/>
              </a:rPr>
              <a:t>Packet </a:t>
            </a:r>
            <a:r>
              <a:rPr lang="en-US" dirty="0">
                <a:latin typeface="Red Hat Display" panose="02010303040201060303" pitchFamily="2" charset="0"/>
                <a:ea typeface="Red Hat Display" panose="02010303040201060303" pitchFamily="2" charset="0"/>
                <a:cs typeface="Red Hat Display" panose="02010303040201060303" pitchFamily="2" charset="0"/>
              </a:rPr>
              <a:t>Switching techniques are used to transfer data packets from source to destination.</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Switches have a more significant number of ports.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pic>
        <p:nvPicPr>
          <p:cNvPr id="5122" name="Picture 2" descr="Difference Between Router and Switch ...">
            <a:extLst>
              <a:ext uri="{FF2B5EF4-FFF2-40B4-BE49-F238E27FC236}">
                <a16:creationId xmlns:a16="http://schemas.microsoft.com/office/drawing/2014/main" id="{A0BBFAC6-302D-BC67-2697-3CF38BB56D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8778"/>
          <a:stretch/>
        </p:blipFill>
        <p:spPr bwMode="auto">
          <a:xfrm>
            <a:off x="7567449" y="1155379"/>
            <a:ext cx="4242920" cy="2820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089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Why Are Network Switches Valuable?</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fontScale="92500" lnSpcReduction="1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Switches are having full-duplex communication which helps in making effective use of bandwidth.</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Switches help to provide a wired connection to printers, IoT devices, wireless points, and many more devices.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IoT Devices send data through Network Switches that help in making smarter surroundings with the help of Artificial Intelligence.</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 Devices are made with the help of Switches that carry a large number of traffic in telecommunication.</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95005475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Switches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0753189" cy="5290807"/>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Virtual Switches</a:t>
            </a:r>
            <a:r>
              <a:rPr lang="en-US" dirty="0">
                <a:latin typeface="Red Hat Display" panose="02010303040201060303" pitchFamily="2" charset="0"/>
                <a:ea typeface="Red Hat Display" panose="02010303040201060303" pitchFamily="2" charset="0"/>
                <a:cs typeface="Red Hat Display" panose="02010303040201060303" pitchFamily="2" charset="0"/>
              </a:rPr>
              <a:t>: Virtual Switches are the switches that are inside Virtual Machine hosting environments.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Routing Switches</a:t>
            </a:r>
            <a:r>
              <a:rPr lang="en-US" dirty="0">
                <a:latin typeface="Red Hat Display" panose="02010303040201060303" pitchFamily="2" charset="0"/>
                <a:ea typeface="Red Hat Display" panose="02010303040201060303" pitchFamily="2" charset="0"/>
                <a:cs typeface="Red Hat Display" panose="02010303040201060303" pitchFamily="2" charset="0"/>
              </a:rPr>
              <a:t>: These are the switches that are used to connect LANs. They also have the work of performing functions in the Network Layer of the OSI Model.</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Unmanaged Switches</a:t>
            </a:r>
            <a:r>
              <a:rPr lang="en-US" dirty="0">
                <a:latin typeface="Red Hat Display" panose="02010303040201060303" pitchFamily="2" charset="0"/>
                <a:ea typeface="Red Hat Display" panose="02010303040201060303" pitchFamily="2" charset="0"/>
                <a:cs typeface="Red Hat Display" panose="02010303040201060303" pitchFamily="2" charset="0"/>
              </a:rPr>
              <a:t>: Unmanaged Switches are the devices that are used to enable Ethernet devices that help in automatic data passing. These are generally used for home networks and small businesses.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7533808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Switches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0753189" cy="5367048"/>
          </a:xfrm>
        </p:spPr>
        <p:txBody>
          <a:bodyPr>
            <a:normAutofit fontScale="92500"/>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Managed Switches</a:t>
            </a:r>
            <a:r>
              <a:rPr lang="en-US" dirty="0">
                <a:latin typeface="Red Hat Display" panose="02010303040201060303" pitchFamily="2" charset="0"/>
                <a:ea typeface="Red Hat Display" panose="02010303040201060303" pitchFamily="2" charset="0"/>
                <a:cs typeface="Red Hat Display" panose="02010303040201060303" pitchFamily="2" charset="0"/>
              </a:rPr>
              <a:t>: Managed Switches are switches having more complex networks. SNMP (Simple Network Management Protocol) can be used for configuring managed switches.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LAN Switches</a:t>
            </a:r>
            <a:r>
              <a:rPr lang="en-US" dirty="0">
                <a:latin typeface="Red Hat Display" panose="02010303040201060303" pitchFamily="2" charset="0"/>
                <a:ea typeface="Red Hat Display" panose="02010303040201060303" pitchFamily="2" charset="0"/>
                <a:cs typeface="Red Hat Display" panose="02010303040201060303" pitchFamily="2" charset="0"/>
              </a:rPr>
              <a:t>: LAN (Local Area Network) Switches are also called ethernet switches or data switches. LAN switches always try to avoid overlapping of data packets in the network just by allocating bandwidth in such a manner.</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PoE Switches</a:t>
            </a:r>
            <a:r>
              <a:rPr lang="en-US" dirty="0">
                <a:latin typeface="Red Hat Display" panose="02010303040201060303" pitchFamily="2" charset="0"/>
                <a:ea typeface="Red Hat Display" panose="02010303040201060303" pitchFamily="2" charset="0"/>
                <a:cs typeface="Red Hat Display" panose="02010303040201060303" pitchFamily="2" charset="0"/>
              </a:rPr>
              <a:t>: Power over Ethernet(PoE) are the switches used in Gigabit Ethernets. PoE help in combining data and power transmission over the same cable so that it helps in receiving data and electricity over the same line.</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7968020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Switches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Smart Switches</a:t>
            </a:r>
            <a:r>
              <a:rPr lang="en-US" dirty="0">
                <a:latin typeface="Red Hat Display" panose="02010303040201060303" pitchFamily="2" charset="0"/>
                <a:ea typeface="Red Hat Display" panose="02010303040201060303" pitchFamily="2" charset="0"/>
                <a:cs typeface="Red Hat Display" panose="02010303040201060303" pitchFamily="2" charset="0"/>
              </a:rPr>
              <a:t>: Smart Switches are switches having some extra controls on data transmissions but also have extra limitations over managed Switches. They are also called partially managed switches.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Stackable Switches</a:t>
            </a:r>
            <a:r>
              <a:rPr lang="en-US" dirty="0">
                <a:latin typeface="Red Hat Display" panose="02010303040201060303" pitchFamily="2" charset="0"/>
                <a:ea typeface="Red Hat Display" panose="02010303040201060303" pitchFamily="2" charset="0"/>
                <a:cs typeface="Red Hat Display" panose="02010303040201060303" pitchFamily="2" charset="0"/>
              </a:rPr>
              <a:t>: Stackable switches are connected through a backplane to combine two logical switches into a single switch.</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Modular Switches</a:t>
            </a:r>
            <a:r>
              <a:rPr lang="en-US" dirty="0">
                <a:latin typeface="Red Hat Display" panose="02010303040201060303" pitchFamily="2" charset="0"/>
                <a:ea typeface="Red Hat Display" panose="02010303040201060303" pitchFamily="2" charset="0"/>
                <a:cs typeface="Red Hat Display" panose="02010303040201060303" pitchFamily="2" charset="0"/>
              </a:rPr>
              <a:t>: These types of switches help in accommodating two or more cards. Modular switches help in providing better flexibility.</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2789666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Network Switch vs Router</a:t>
            </a:r>
          </a:p>
        </p:txBody>
      </p:sp>
      <p:graphicFrame>
        <p:nvGraphicFramePr>
          <p:cNvPr id="4" name="Content Placeholder 3">
            <a:extLst>
              <a:ext uri="{FF2B5EF4-FFF2-40B4-BE49-F238E27FC236}">
                <a16:creationId xmlns:a16="http://schemas.microsoft.com/office/drawing/2014/main" id="{06C97A69-AE18-CD68-F7DB-6A836C0DF5DB}"/>
              </a:ext>
            </a:extLst>
          </p:cNvPr>
          <p:cNvGraphicFramePr>
            <a:graphicFrameLocks noGrp="1"/>
          </p:cNvGraphicFramePr>
          <p:nvPr>
            <p:ph idx="1"/>
            <p:extLst>
              <p:ext uri="{D42A27DB-BD31-4B8C-83A1-F6EECF244321}">
                <p14:modId xmlns:p14="http://schemas.microsoft.com/office/powerpoint/2010/main" val="704254341"/>
              </p:ext>
            </p:extLst>
          </p:nvPr>
        </p:nvGraphicFramePr>
        <p:xfrm>
          <a:off x="557939" y="1852770"/>
          <a:ext cx="11203864" cy="3152460"/>
        </p:xfrm>
        <a:graphic>
          <a:graphicData uri="http://schemas.openxmlformats.org/drawingml/2006/table">
            <a:tbl>
              <a:tblPr firstRow="1" bandRow="1">
                <a:tableStyleId>{5C22544A-7EE6-4342-B048-85BDC9FD1C3A}</a:tableStyleId>
              </a:tblPr>
              <a:tblGrid>
                <a:gridCol w="5601932">
                  <a:extLst>
                    <a:ext uri="{9D8B030D-6E8A-4147-A177-3AD203B41FA5}">
                      <a16:colId xmlns:a16="http://schemas.microsoft.com/office/drawing/2014/main" val="1466006097"/>
                    </a:ext>
                  </a:extLst>
                </a:gridCol>
                <a:gridCol w="5601932">
                  <a:extLst>
                    <a:ext uri="{9D8B030D-6E8A-4147-A177-3AD203B41FA5}">
                      <a16:colId xmlns:a16="http://schemas.microsoft.com/office/drawing/2014/main" val="522696660"/>
                    </a:ext>
                  </a:extLst>
                </a:gridCol>
              </a:tblGrid>
              <a:tr h="370840">
                <a:tc>
                  <a:txBody>
                    <a:bodyPr/>
                    <a:lstStyle/>
                    <a:p>
                      <a:pPr algn="ctr"/>
                      <a:r>
                        <a:rPr lang="en-IN" dirty="0"/>
                        <a:t>Network Switch</a:t>
                      </a:r>
                    </a:p>
                  </a:txBody>
                  <a:tcPr/>
                </a:tc>
                <a:tc>
                  <a:txBody>
                    <a:bodyPr/>
                    <a:lstStyle/>
                    <a:p>
                      <a:pPr algn="ctr"/>
                      <a:r>
                        <a:rPr lang="en-IN" dirty="0"/>
                        <a:t>Router</a:t>
                      </a:r>
                    </a:p>
                  </a:txBody>
                  <a:tcPr/>
                </a:tc>
                <a:extLst>
                  <a:ext uri="{0D108BD9-81ED-4DB2-BD59-A6C34878D82A}">
                    <a16:rowId xmlns:a16="http://schemas.microsoft.com/office/drawing/2014/main" val="3528755579"/>
                  </a:ext>
                </a:extLst>
              </a:tr>
              <a:tr h="370840">
                <a:tc>
                  <a:txBody>
                    <a:bodyPr/>
                    <a:lstStyle/>
                    <a:p>
                      <a:pPr algn="ctr">
                        <a:lnSpc>
                          <a:spcPct val="200000"/>
                        </a:lnSpc>
                      </a:pPr>
                      <a:r>
                        <a:rPr lang="en-US" dirty="0"/>
                        <a:t>It works on Layer 2 of the OSI Model.</a:t>
                      </a:r>
                      <a:endParaRPr lang="en-IN" dirty="0"/>
                    </a:p>
                  </a:txBody>
                  <a:tcPr/>
                </a:tc>
                <a:tc>
                  <a:txBody>
                    <a:bodyPr/>
                    <a:lstStyle/>
                    <a:p>
                      <a:pPr algn="ctr">
                        <a:lnSpc>
                          <a:spcPct val="200000"/>
                        </a:lnSpc>
                      </a:pPr>
                      <a:r>
                        <a:rPr lang="en-US" dirty="0"/>
                        <a:t>It primarily a device of Layer 3 of the OSI Model.</a:t>
                      </a:r>
                      <a:endParaRPr lang="en-IN" dirty="0"/>
                    </a:p>
                  </a:txBody>
                  <a:tcPr/>
                </a:tc>
                <a:extLst>
                  <a:ext uri="{0D108BD9-81ED-4DB2-BD59-A6C34878D82A}">
                    <a16:rowId xmlns:a16="http://schemas.microsoft.com/office/drawing/2014/main" val="1157446814"/>
                  </a:ext>
                </a:extLst>
              </a:tr>
              <a:tr h="370840">
                <a:tc>
                  <a:txBody>
                    <a:bodyPr/>
                    <a:lstStyle/>
                    <a:p>
                      <a:pPr algn="ctr">
                        <a:lnSpc>
                          <a:spcPct val="200000"/>
                        </a:lnSpc>
                      </a:pPr>
                      <a:r>
                        <a:rPr lang="en-US" dirty="0"/>
                        <a:t>The resource is shared among multiple devices.</a:t>
                      </a:r>
                      <a:endParaRPr lang="en-IN" dirty="0"/>
                    </a:p>
                  </a:txBody>
                  <a:tcPr/>
                </a:tc>
                <a:tc>
                  <a:txBody>
                    <a:bodyPr/>
                    <a:lstStyle/>
                    <a:p>
                      <a:pPr algn="ctr">
                        <a:lnSpc>
                          <a:spcPct val="200000"/>
                        </a:lnSpc>
                      </a:pPr>
                      <a:r>
                        <a:rPr lang="en-US" dirty="0"/>
                        <a:t>Data is moved between two or more computers.</a:t>
                      </a:r>
                      <a:endParaRPr lang="en-IN" dirty="0"/>
                    </a:p>
                  </a:txBody>
                  <a:tcPr/>
                </a:tc>
                <a:extLst>
                  <a:ext uri="{0D108BD9-81ED-4DB2-BD59-A6C34878D82A}">
                    <a16:rowId xmlns:a16="http://schemas.microsoft.com/office/drawing/2014/main" val="605125217"/>
                  </a:ext>
                </a:extLst>
              </a:tr>
              <a:tr h="370840">
                <a:tc>
                  <a:txBody>
                    <a:bodyPr/>
                    <a:lstStyle/>
                    <a:p>
                      <a:pPr algn="ctr">
                        <a:lnSpc>
                          <a:spcPct val="200000"/>
                        </a:lnSpc>
                      </a:pPr>
                      <a:r>
                        <a:rPr lang="en-US" dirty="0"/>
                        <a:t>Network switches uses data frames</a:t>
                      </a:r>
                      <a:endParaRPr lang="en-IN" dirty="0"/>
                    </a:p>
                  </a:txBody>
                  <a:tcPr/>
                </a:tc>
                <a:tc>
                  <a:txBody>
                    <a:bodyPr/>
                    <a:lstStyle/>
                    <a:p>
                      <a:pPr algn="ctr">
                        <a:lnSpc>
                          <a:spcPct val="200000"/>
                        </a:lnSpc>
                      </a:pPr>
                      <a:r>
                        <a:rPr lang="en-IN" dirty="0"/>
                        <a:t>Routers use data packets.</a:t>
                      </a:r>
                    </a:p>
                  </a:txBody>
                  <a:tcPr/>
                </a:tc>
                <a:extLst>
                  <a:ext uri="{0D108BD9-81ED-4DB2-BD59-A6C34878D82A}">
                    <a16:rowId xmlns:a16="http://schemas.microsoft.com/office/drawing/2014/main" val="2579362819"/>
                  </a:ext>
                </a:extLst>
              </a:tr>
              <a:tr h="370840">
                <a:tc>
                  <a:txBody>
                    <a:bodyPr/>
                    <a:lstStyle/>
                    <a:p>
                      <a:pPr algn="ctr">
                        <a:lnSpc>
                          <a:spcPct val="200000"/>
                        </a:lnSpc>
                      </a:pPr>
                      <a:r>
                        <a:rPr lang="en-US" dirty="0"/>
                        <a:t>It works in a Wired network connection.</a:t>
                      </a:r>
                      <a:endParaRPr lang="en-IN" dirty="0"/>
                    </a:p>
                  </a:txBody>
                  <a:tcPr/>
                </a:tc>
                <a:tc>
                  <a:txBody>
                    <a:bodyPr/>
                    <a:lstStyle/>
                    <a:p>
                      <a:pPr algn="ctr">
                        <a:lnSpc>
                          <a:spcPct val="200000"/>
                        </a:lnSpc>
                      </a:pPr>
                      <a:r>
                        <a:rPr lang="en-US" dirty="0"/>
                        <a:t>It works with both wired and </a:t>
                      </a:r>
                      <a:r>
                        <a:rPr lang="en-US" dirty="0" err="1"/>
                        <a:t>Wifi</a:t>
                      </a:r>
                      <a:r>
                        <a:rPr lang="en-US" dirty="0"/>
                        <a:t> networks.</a:t>
                      </a:r>
                      <a:endParaRPr lang="en-IN" dirty="0"/>
                    </a:p>
                  </a:txBody>
                  <a:tcPr/>
                </a:tc>
                <a:extLst>
                  <a:ext uri="{0D108BD9-81ED-4DB2-BD59-A6C34878D82A}">
                    <a16:rowId xmlns:a16="http://schemas.microsoft.com/office/drawing/2014/main" val="2482129916"/>
                  </a:ext>
                </a:extLst>
              </a:tr>
              <a:tr h="370840">
                <a:tc>
                  <a:txBody>
                    <a:bodyPr/>
                    <a:lstStyle/>
                    <a:p>
                      <a:pPr algn="ctr">
                        <a:lnSpc>
                          <a:spcPct val="200000"/>
                        </a:lnSpc>
                      </a:pPr>
                      <a:r>
                        <a:rPr lang="en-US" dirty="0"/>
                        <a:t>Switches use MAC Addresses for transferring data.</a:t>
                      </a:r>
                      <a:endParaRPr lang="en-IN" dirty="0"/>
                    </a:p>
                  </a:txBody>
                  <a:tcPr/>
                </a:tc>
                <a:tc>
                  <a:txBody>
                    <a:bodyPr/>
                    <a:lstStyle/>
                    <a:p>
                      <a:pPr algn="ctr">
                        <a:lnSpc>
                          <a:spcPct val="200000"/>
                        </a:lnSpc>
                      </a:pPr>
                      <a:r>
                        <a:rPr lang="en-IN" dirty="0"/>
                        <a:t>Routers use IP Addresses</a:t>
                      </a:r>
                    </a:p>
                  </a:txBody>
                  <a:tcPr/>
                </a:tc>
                <a:extLst>
                  <a:ext uri="{0D108BD9-81ED-4DB2-BD59-A6C34878D82A}">
                    <a16:rowId xmlns:a16="http://schemas.microsoft.com/office/drawing/2014/main" val="929801461"/>
                  </a:ext>
                </a:extLst>
              </a:tr>
            </a:tbl>
          </a:graphicData>
        </a:graphic>
      </p:graphicFrame>
    </p:spTree>
    <p:extLst>
      <p:ext uri="{BB962C8B-B14F-4D97-AF65-F5344CB8AC3E}">
        <p14:creationId xmlns:p14="http://schemas.microsoft.com/office/powerpoint/2010/main" val="33741497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Network Switches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1097403" cy="5290807"/>
          </a:xfrm>
        </p:spPr>
        <p:txBody>
          <a:bodyPr>
            <a:normAutofit/>
          </a:bodyPr>
          <a:lstStyle/>
          <a:p>
            <a:pPr algn="just">
              <a:lnSpc>
                <a:spcPct val="16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 switches help provide automatic link connections that remove time-consuming settings and provide easy access to network devices.</a:t>
            </a:r>
          </a:p>
          <a:p>
            <a:pPr algn="just">
              <a:lnSpc>
                <a:spcPct val="16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Switches provide a better, more secure, reliable network having more control over data.</a:t>
            </a:r>
          </a:p>
          <a:p>
            <a:pPr algn="just">
              <a:lnSpc>
                <a:spcPct val="16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Switches work in full duplex mode, which helps in continuous data transmission and that improves better connectivity.</a:t>
            </a:r>
          </a:p>
          <a:p>
            <a:pPr algn="just">
              <a:lnSpc>
                <a:spcPct val="16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As MAC Address is used for the devices connected to it, that helps in the delivery of messages to only the required destination, not everywhere.</a:t>
            </a:r>
          </a:p>
          <a:p>
            <a:pPr algn="just">
              <a:lnSpc>
                <a:spcPct val="16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 Switches work for home networks or local networks where streaming works are performed regularly.</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8312669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Advantages &amp; Disadvantages of Switches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557938" y="2186940"/>
            <a:ext cx="5180709" cy="3913061"/>
          </a:xfrm>
        </p:spPr>
        <p:txBody>
          <a:bodyPr>
            <a:normAutofit lnSpcReduction="1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Prevents traffic overloading in a network by segmenting the network into smaller subnets.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Increases the bandwidth of the network.</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Less frame collision as the switch creates the collision domain for each connection.</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4" name="Content Placeholder 2">
            <a:extLst>
              <a:ext uri="{FF2B5EF4-FFF2-40B4-BE49-F238E27FC236}">
                <a16:creationId xmlns:a16="http://schemas.microsoft.com/office/drawing/2014/main" id="{7E0C7FBF-89E0-4101-18FC-702014BB22C5}"/>
              </a:ext>
            </a:extLst>
          </p:cNvPr>
          <p:cNvSpPr txBox="1">
            <a:spLocks/>
          </p:cNvSpPr>
          <p:nvPr/>
        </p:nvSpPr>
        <p:spPr>
          <a:xfrm>
            <a:off x="6096000" y="1472340"/>
            <a:ext cx="4397058" cy="5089328"/>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5" name="TextBox 4">
            <a:extLst>
              <a:ext uri="{FF2B5EF4-FFF2-40B4-BE49-F238E27FC236}">
                <a16:creationId xmlns:a16="http://schemas.microsoft.com/office/drawing/2014/main" id="{32A8B0ED-A946-E7BF-B8D8-1EA1A1627028}"/>
              </a:ext>
            </a:extLst>
          </p:cNvPr>
          <p:cNvSpPr txBox="1"/>
          <p:nvPr/>
        </p:nvSpPr>
        <p:spPr>
          <a:xfrm>
            <a:off x="1698942" y="1498068"/>
            <a:ext cx="1944763" cy="461665"/>
          </a:xfrm>
          <a:prstGeom prst="rect">
            <a:avLst/>
          </a:prstGeom>
          <a:noFill/>
        </p:spPr>
        <p:txBody>
          <a:bodyPr wrap="none" rtlCol="0">
            <a:spAutoFit/>
          </a:bodyPr>
          <a:lstStyle/>
          <a:p>
            <a:r>
              <a:rPr lang="en-US" sz="2400" b="1" dirty="0">
                <a:latin typeface="Red Hat Display" panose="02010303040201060303" pitchFamily="2" charset="0"/>
                <a:ea typeface="Red Hat Display" panose="02010303040201060303" pitchFamily="2" charset="0"/>
                <a:cs typeface="Red Hat Display" panose="02010303040201060303" pitchFamily="2" charset="0"/>
              </a:rPr>
              <a:t>Advantages</a:t>
            </a:r>
            <a:endParaRPr lang="en-IN" sz="2400" b="1"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6" name="Content Placeholder 2">
            <a:extLst>
              <a:ext uri="{FF2B5EF4-FFF2-40B4-BE49-F238E27FC236}">
                <a16:creationId xmlns:a16="http://schemas.microsoft.com/office/drawing/2014/main" id="{E98A4BC3-01CE-10A7-78BF-174E641390CD}"/>
              </a:ext>
            </a:extLst>
          </p:cNvPr>
          <p:cNvSpPr txBox="1">
            <a:spLocks/>
          </p:cNvSpPr>
          <p:nvPr/>
        </p:nvSpPr>
        <p:spPr>
          <a:xfrm>
            <a:off x="6266289" y="2186940"/>
            <a:ext cx="5367772" cy="391306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can not stop traffic destined for a different LAN segment from traveling to all other LAN segments.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Switches are more expensive.</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7" name="TextBox 6">
            <a:extLst>
              <a:ext uri="{FF2B5EF4-FFF2-40B4-BE49-F238E27FC236}">
                <a16:creationId xmlns:a16="http://schemas.microsoft.com/office/drawing/2014/main" id="{C3B9DF13-C473-58FC-8549-EBCFC5E6609B}"/>
              </a:ext>
            </a:extLst>
          </p:cNvPr>
          <p:cNvSpPr txBox="1"/>
          <p:nvPr/>
        </p:nvSpPr>
        <p:spPr>
          <a:xfrm>
            <a:off x="7288053" y="1498068"/>
            <a:ext cx="2353529" cy="461665"/>
          </a:xfrm>
          <a:prstGeom prst="rect">
            <a:avLst/>
          </a:prstGeom>
          <a:noFill/>
        </p:spPr>
        <p:txBody>
          <a:bodyPr wrap="none" rtlCol="0">
            <a:spAutoFit/>
          </a:bodyPr>
          <a:lstStyle/>
          <a:p>
            <a:r>
              <a:rPr lang="en-US" sz="2400" b="1" dirty="0">
                <a:latin typeface="Red Hat Display" panose="02010303040201060303" pitchFamily="2" charset="0"/>
                <a:ea typeface="Red Hat Display" panose="02010303040201060303" pitchFamily="2" charset="0"/>
                <a:cs typeface="Red Hat Display" panose="02010303040201060303" pitchFamily="2" charset="0"/>
              </a:rPr>
              <a:t>Disadvantages</a:t>
            </a:r>
            <a:endParaRPr lang="en-IN" sz="2400" b="1"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2939877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Routers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0753189" cy="5290807"/>
          </a:xfrm>
        </p:spPr>
        <p:txBody>
          <a:bodyPr>
            <a:normAutofit/>
          </a:bodyPr>
          <a:lstStyle/>
          <a:p>
            <a:pPr algn="just">
              <a:lnSpc>
                <a:spcPct val="15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router is a physical or virtual internetworking device that is designed to receive, analyze, and forward data packets between computer networks. </a:t>
            </a:r>
          </a:p>
          <a:p>
            <a:pPr algn="just">
              <a:lnSpc>
                <a:spcPct val="15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 router examines a destination IP address of a given data packet, and it uses the headers and forwarding tables to decide the best way to transfer the packets. </a:t>
            </a:r>
          </a:p>
          <a:p>
            <a:pPr algn="just">
              <a:lnSpc>
                <a:spcPct val="15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There are some popular companies that develop routers; such are </a:t>
            </a:r>
          </a:p>
          <a:p>
            <a:pPr lvl="1" algn="just">
              <a:lnSpc>
                <a:spcPct val="15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Cisco </a:t>
            </a:r>
          </a:p>
          <a:p>
            <a:pPr lvl="1" algn="just">
              <a:lnSpc>
                <a:spcPct val="15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3Com</a:t>
            </a:r>
          </a:p>
          <a:p>
            <a:pPr lvl="1" algn="just">
              <a:lnSpc>
                <a:spcPct val="15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HP</a:t>
            </a:r>
          </a:p>
          <a:p>
            <a:pPr lvl="1" algn="just">
              <a:lnSpc>
                <a:spcPct val="15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Juniper</a:t>
            </a:r>
          </a:p>
          <a:p>
            <a:pPr lvl="1" algn="just">
              <a:lnSpc>
                <a:spcPct val="15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D-Link</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7821467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Routers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6840713"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 router is used in LAN (Local Area Network) and WAN (Wide Area Network) environments.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shares information with other routers in networking.</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uses the </a:t>
            </a:r>
            <a:r>
              <a:rPr lang="en-US" i="1" dirty="0">
                <a:latin typeface="Red Hat Display" panose="02010303040201060303" pitchFamily="2" charset="0"/>
                <a:ea typeface="Red Hat Display" panose="02010303040201060303" pitchFamily="2" charset="0"/>
                <a:cs typeface="Red Hat Display" panose="02010303040201060303" pitchFamily="2" charset="0"/>
              </a:rPr>
              <a:t>routing protocol </a:t>
            </a:r>
            <a:r>
              <a:rPr lang="en-US" dirty="0">
                <a:latin typeface="Red Hat Display" panose="02010303040201060303" pitchFamily="2" charset="0"/>
                <a:ea typeface="Red Hat Display" panose="02010303040201060303" pitchFamily="2" charset="0"/>
                <a:cs typeface="Red Hat Display" panose="02010303040201060303" pitchFamily="2" charset="0"/>
              </a:rPr>
              <a:t>to transfer the data across a network.</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is more expensive than other networking devices like switches and hubs.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pic>
        <p:nvPicPr>
          <p:cNvPr id="1026" name="Picture 2" descr="What is a Router">
            <a:extLst>
              <a:ext uri="{FF2B5EF4-FFF2-40B4-BE49-F238E27FC236}">
                <a16:creationId xmlns:a16="http://schemas.microsoft.com/office/drawing/2014/main" id="{7CB8C744-DE58-8127-DFCD-6E9861734A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9376" y="1831873"/>
            <a:ext cx="3866727" cy="3194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6716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Routing protocol</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0951309" cy="5290807"/>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 routing protocol is a set of rules that routers use to identify and forward packets across a network path.</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Routing protocols can be categorized into two main types: </a:t>
            </a:r>
          </a:p>
          <a:p>
            <a:pPr lvl="1" algn="just">
              <a:lnSpc>
                <a:spcPct val="200000"/>
              </a:lnSpc>
            </a:pPr>
            <a:r>
              <a:rPr lang="en-US" i="1" dirty="0">
                <a:latin typeface="Red Hat Display" panose="02010303040201060303" pitchFamily="2" charset="0"/>
                <a:ea typeface="Red Hat Display" panose="02010303040201060303" pitchFamily="2" charset="0"/>
                <a:cs typeface="Red Hat Display" panose="02010303040201060303" pitchFamily="2" charset="0"/>
              </a:rPr>
              <a:t>Interior gateway protocols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Interior gateway protocols work best within an autonomous system, which is a network that's administratively controlled by a single organization.</a:t>
            </a:r>
          </a:p>
          <a:p>
            <a:pPr lvl="1" algn="just">
              <a:lnSpc>
                <a:spcPct val="200000"/>
              </a:lnSpc>
            </a:pPr>
            <a:r>
              <a:rPr lang="en-US" i="1" dirty="0">
                <a:latin typeface="Red Hat Display" panose="02010303040201060303" pitchFamily="2" charset="0"/>
                <a:ea typeface="Red Hat Display" panose="02010303040201060303" pitchFamily="2" charset="0"/>
                <a:cs typeface="Red Hat Display" panose="02010303040201060303" pitchFamily="2" charset="0"/>
              </a:rPr>
              <a:t>Exterior gateway protocols.  </a:t>
            </a:r>
          </a:p>
          <a:p>
            <a:pPr lvl="2"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Exterior gateway protocols are better for managing information transfer between two autonomous systems.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1599724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Router</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0753189" cy="5290807"/>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Broadband routers</a:t>
            </a:r>
          </a:p>
          <a:p>
            <a:pPr lvl="1" algn="just">
              <a:lnSpc>
                <a:spcPct val="200000"/>
              </a:lnSpc>
              <a:buFont typeface="Courier New" panose="02070309020205020404" pitchFamily="49" charset="0"/>
              <a:buChar char="o"/>
            </a:pPr>
            <a:r>
              <a:rPr lang="en-US" dirty="0">
                <a:latin typeface="Red Hat Display" panose="02010303040201060303" pitchFamily="2" charset="0"/>
                <a:ea typeface="Red Hat Display" panose="02010303040201060303" pitchFamily="2" charset="0"/>
                <a:cs typeface="Red Hat Display" panose="02010303040201060303" pitchFamily="2" charset="0"/>
              </a:rPr>
              <a:t>it is used to connect computers or it is also used to connect to the internet.</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Wireless routers</a:t>
            </a:r>
          </a:p>
          <a:p>
            <a:pPr lvl="1" algn="just">
              <a:lnSpc>
                <a:spcPct val="200000"/>
              </a:lnSpc>
              <a:buFont typeface="Courier New" panose="02070309020205020404" pitchFamily="49" charset="0"/>
              <a:buChar char="o"/>
            </a:pPr>
            <a:r>
              <a:rPr lang="en-US" dirty="0">
                <a:latin typeface="Red Hat Display" panose="02010303040201060303" pitchFamily="2" charset="0"/>
                <a:ea typeface="Red Hat Display" panose="02010303040201060303" pitchFamily="2" charset="0"/>
                <a:cs typeface="Red Hat Display" panose="02010303040201060303" pitchFamily="2" charset="0"/>
              </a:rPr>
              <a:t>These routers are used to create a wireless signal in your office or home.</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Wired routers</a:t>
            </a:r>
          </a:p>
          <a:p>
            <a:pPr lvl="1" algn="just">
              <a:lnSpc>
                <a:spcPct val="200000"/>
              </a:lnSpc>
              <a:buFont typeface="Courier New" panose="02070309020205020404" pitchFamily="49" charset="0"/>
              <a:buChar char="o"/>
            </a:pPr>
            <a:r>
              <a:rPr lang="en-US" dirty="0">
                <a:latin typeface="Red Hat Display" panose="02010303040201060303" pitchFamily="2" charset="0"/>
                <a:ea typeface="Red Hat Display" panose="02010303040201060303" pitchFamily="2" charset="0"/>
                <a:cs typeface="Red Hat Display" panose="02010303040201060303" pitchFamily="2" charset="0"/>
              </a:rPr>
              <a:t>It takes the transmission data from the modem and distribute it to a further network</a:t>
            </a:r>
          </a:p>
        </p:txBody>
      </p:sp>
    </p:spTree>
    <p:extLst>
      <p:ext uri="{BB962C8B-B14F-4D97-AF65-F5344CB8AC3E}">
        <p14:creationId xmlns:p14="http://schemas.microsoft.com/office/powerpoint/2010/main" val="16899722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Types of Router</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2" y="1270861"/>
            <a:ext cx="10710516" cy="5367048"/>
          </a:xfrm>
        </p:spPr>
        <p:txBody>
          <a:bodyPr>
            <a:normAutofit fontScale="92500"/>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Edge routers</a:t>
            </a:r>
          </a:p>
          <a:p>
            <a:pPr lvl="1" algn="just">
              <a:lnSpc>
                <a:spcPct val="200000"/>
              </a:lnSpc>
              <a:buFont typeface="Courier New" panose="02070309020205020404" pitchFamily="49" charset="0"/>
              <a:buChar char="o"/>
            </a:pPr>
            <a:r>
              <a:rPr lang="en-US" dirty="0">
                <a:latin typeface="Red Hat Display" panose="02010303040201060303" pitchFamily="2" charset="0"/>
                <a:ea typeface="Red Hat Display" panose="02010303040201060303" pitchFamily="2" charset="0"/>
                <a:cs typeface="Red Hat Display" panose="02010303040201060303" pitchFamily="2" charset="0"/>
              </a:rPr>
              <a:t>These are located at the edges usually connected to an Internet Service Provider, and distribute packets across multiple packets.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Core routers</a:t>
            </a:r>
          </a:p>
          <a:p>
            <a:pPr lvl="1" algn="just">
              <a:lnSpc>
                <a:spcPct val="200000"/>
              </a:lnSpc>
              <a:buFont typeface="Courier New" panose="02070309020205020404" pitchFamily="49" charset="0"/>
              <a:buChar char="o"/>
            </a:pPr>
            <a:r>
              <a:rPr lang="en-US" dirty="0">
                <a:latin typeface="Red Hat Display" panose="02010303040201060303" pitchFamily="2" charset="0"/>
                <a:ea typeface="Red Hat Display" panose="02010303040201060303" pitchFamily="2" charset="0"/>
                <a:cs typeface="Red Hat Display" panose="02010303040201060303" pitchFamily="2" charset="0"/>
              </a:rPr>
              <a:t>These routers distribute packets within the same network. The main task is to carry heavy data transfers.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Virtual routers</a:t>
            </a:r>
          </a:p>
          <a:p>
            <a:pPr lvl="1" algn="just">
              <a:lnSpc>
                <a:spcPct val="200000"/>
              </a:lnSpc>
              <a:buFont typeface="Courier New" panose="02070309020205020404" pitchFamily="49" charset="0"/>
              <a:buChar char="o"/>
            </a:pPr>
            <a:r>
              <a:rPr lang="en-US" dirty="0">
                <a:latin typeface="Red Hat Display" panose="02010303040201060303" pitchFamily="2" charset="0"/>
                <a:ea typeface="Red Hat Display" panose="02010303040201060303" pitchFamily="2" charset="0"/>
                <a:cs typeface="Red Hat Display" panose="02010303040201060303" pitchFamily="2" charset="0"/>
              </a:rPr>
              <a:t>They are implemented using a software on the virtual machine , and they are more flexible and scalable.</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47800085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Functions of router</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5158505"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Forwarding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Routing</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Networking Address Translation (NAT)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Security</a:t>
            </a:r>
          </a:p>
        </p:txBody>
      </p:sp>
      <p:sp>
        <p:nvSpPr>
          <p:cNvPr id="4" name="Content Placeholder 2">
            <a:extLst>
              <a:ext uri="{FF2B5EF4-FFF2-40B4-BE49-F238E27FC236}">
                <a16:creationId xmlns:a16="http://schemas.microsoft.com/office/drawing/2014/main" id="{532B2F16-20C0-229A-E8EF-EA1EA74326F5}"/>
              </a:ext>
            </a:extLst>
          </p:cNvPr>
          <p:cNvSpPr txBox="1">
            <a:spLocks/>
          </p:cNvSpPr>
          <p:nvPr/>
        </p:nvSpPr>
        <p:spPr>
          <a:xfrm>
            <a:off x="6432886" y="1472340"/>
            <a:ext cx="5158505" cy="5089328"/>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Quality of Service (QoS)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Virtual Private Network (VPN) connectivity</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Bandwidth management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Monitoring and diagnostics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4902229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Advantages &amp; Disadvantages of Router</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557938" y="2186940"/>
            <a:ext cx="5180709" cy="3913061"/>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Easier Connection</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Security</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NAT Usage</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Support Dynamic Routing</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Filtering of packets</a:t>
            </a:r>
          </a:p>
        </p:txBody>
      </p:sp>
      <p:sp>
        <p:nvSpPr>
          <p:cNvPr id="4" name="Content Placeholder 2">
            <a:extLst>
              <a:ext uri="{FF2B5EF4-FFF2-40B4-BE49-F238E27FC236}">
                <a16:creationId xmlns:a16="http://schemas.microsoft.com/office/drawing/2014/main" id="{7E0C7FBF-89E0-4101-18FC-702014BB22C5}"/>
              </a:ext>
            </a:extLst>
          </p:cNvPr>
          <p:cNvSpPr txBox="1">
            <a:spLocks/>
          </p:cNvSpPr>
          <p:nvPr/>
        </p:nvSpPr>
        <p:spPr>
          <a:xfrm>
            <a:off x="6096000" y="1472340"/>
            <a:ext cx="4397058" cy="5089328"/>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5" name="TextBox 4">
            <a:extLst>
              <a:ext uri="{FF2B5EF4-FFF2-40B4-BE49-F238E27FC236}">
                <a16:creationId xmlns:a16="http://schemas.microsoft.com/office/drawing/2014/main" id="{32A8B0ED-A946-E7BF-B8D8-1EA1A1627028}"/>
              </a:ext>
            </a:extLst>
          </p:cNvPr>
          <p:cNvSpPr txBox="1"/>
          <p:nvPr/>
        </p:nvSpPr>
        <p:spPr>
          <a:xfrm>
            <a:off x="1698942" y="1498068"/>
            <a:ext cx="1944763" cy="461665"/>
          </a:xfrm>
          <a:prstGeom prst="rect">
            <a:avLst/>
          </a:prstGeom>
          <a:noFill/>
        </p:spPr>
        <p:txBody>
          <a:bodyPr wrap="none" rtlCol="0">
            <a:spAutoFit/>
          </a:bodyPr>
          <a:lstStyle/>
          <a:p>
            <a:r>
              <a:rPr lang="en-US" sz="2400" b="1" dirty="0">
                <a:latin typeface="Red Hat Display" panose="02010303040201060303" pitchFamily="2" charset="0"/>
                <a:ea typeface="Red Hat Display" panose="02010303040201060303" pitchFamily="2" charset="0"/>
                <a:cs typeface="Red Hat Display" panose="02010303040201060303" pitchFamily="2" charset="0"/>
              </a:rPr>
              <a:t>Advantages</a:t>
            </a:r>
            <a:endParaRPr lang="en-IN" sz="2400" b="1"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6" name="Content Placeholder 2">
            <a:extLst>
              <a:ext uri="{FF2B5EF4-FFF2-40B4-BE49-F238E27FC236}">
                <a16:creationId xmlns:a16="http://schemas.microsoft.com/office/drawing/2014/main" id="{E98A4BC3-01CE-10A7-78BF-174E641390CD}"/>
              </a:ext>
            </a:extLst>
          </p:cNvPr>
          <p:cNvSpPr txBox="1">
            <a:spLocks/>
          </p:cNvSpPr>
          <p:nvPr/>
        </p:nvSpPr>
        <p:spPr>
          <a:xfrm>
            <a:off x="6266289" y="2186940"/>
            <a:ext cx="5367772" cy="391306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Slower</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High Cost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Need for configuration</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Quality Issues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Bandwidth shortages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
        <p:nvSpPr>
          <p:cNvPr id="7" name="TextBox 6">
            <a:extLst>
              <a:ext uri="{FF2B5EF4-FFF2-40B4-BE49-F238E27FC236}">
                <a16:creationId xmlns:a16="http://schemas.microsoft.com/office/drawing/2014/main" id="{C3B9DF13-C473-58FC-8549-EBCFC5E6609B}"/>
              </a:ext>
            </a:extLst>
          </p:cNvPr>
          <p:cNvSpPr txBox="1"/>
          <p:nvPr/>
        </p:nvSpPr>
        <p:spPr>
          <a:xfrm>
            <a:off x="7288053" y="1498068"/>
            <a:ext cx="2353529" cy="461665"/>
          </a:xfrm>
          <a:prstGeom prst="rect">
            <a:avLst/>
          </a:prstGeom>
          <a:noFill/>
        </p:spPr>
        <p:txBody>
          <a:bodyPr wrap="none" rtlCol="0">
            <a:spAutoFit/>
          </a:bodyPr>
          <a:lstStyle/>
          <a:p>
            <a:r>
              <a:rPr lang="en-US" sz="2400" b="1" dirty="0">
                <a:latin typeface="Red Hat Display" panose="02010303040201060303" pitchFamily="2" charset="0"/>
                <a:ea typeface="Red Hat Display" panose="02010303040201060303" pitchFamily="2" charset="0"/>
                <a:cs typeface="Red Hat Display" panose="02010303040201060303" pitchFamily="2" charset="0"/>
              </a:rPr>
              <a:t>Disadvantages</a:t>
            </a:r>
            <a:endParaRPr lang="en-IN" sz="2400" b="1"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8905276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Routing Protocol</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2" y="1472339"/>
            <a:ext cx="5607684" cy="5165569"/>
          </a:xfrm>
        </p:spPr>
        <p:txBody>
          <a:bodyPr>
            <a:normAutofit/>
          </a:bodyPr>
          <a:lstStyle/>
          <a:p>
            <a:pPr marL="0" indent="0" algn="just">
              <a:lnSpc>
                <a:spcPct val="200000"/>
              </a:lnSpc>
              <a:buNone/>
            </a:pPr>
            <a:r>
              <a:rPr lang="en-US" dirty="0">
                <a:latin typeface="Red Hat Display" panose="02010303040201060303" pitchFamily="2" charset="0"/>
                <a:ea typeface="Red Hat Display" panose="02010303040201060303" pitchFamily="2" charset="0"/>
                <a:cs typeface="Red Hat Display" panose="02010303040201060303" pitchFamily="2" charset="0"/>
              </a:rPr>
              <a:t>Routing is of 3 types: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Static Routing</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Default Routing</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Dynamic Routing</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pic>
        <p:nvPicPr>
          <p:cNvPr id="1026" name="Picture 2" descr="Routing v/s Routed Protocols in Computer Network - GeeksforGeeks">
            <a:extLst>
              <a:ext uri="{FF2B5EF4-FFF2-40B4-BE49-F238E27FC236}">
                <a16:creationId xmlns:a16="http://schemas.microsoft.com/office/drawing/2014/main" id="{30CC9314-AF75-EBEB-6657-CBC134D81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9963" y="1593946"/>
            <a:ext cx="5432037" cy="3670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30602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normAutofit/>
          </a:bodyPr>
          <a:lstStyle/>
          <a:p>
            <a:r>
              <a:rPr lang="en-IN" dirty="0"/>
              <a:t>Routing Protocol - Static Routing</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2" y="1472339"/>
            <a:ext cx="5944122" cy="5165569"/>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Static Routing is also called as “non-adaptive routing”.</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In this routing is done manually by the administrator.</a:t>
            </a:r>
          </a:p>
        </p:txBody>
      </p:sp>
      <p:pic>
        <p:nvPicPr>
          <p:cNvPr id="2050" name="Picture 2" descr="STatic Routing">
            <a:extLst>
              <a:ext uri="{FF2B5EF4-FFF2-40B4-BE49-F238E27FC236}">
                <a16:creationId xmlns:a16="http://schemas.microsoft.com/office/drawing/2014/main" id="{042B73C9-E652-5351-0B5C-BBD695EB9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5111" y="1882775"/>
            <a:ext cx="5790887" cy="3993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77000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Routing Protocol</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2" y="1472339"/>
            <a:ext cx="5607684" cy="5165569"/>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Open Shortest Path First (</a:t>
            </a:r>
            <a:r>
              <a:rPr lang="en-US" b="1" dirty="0">
                <a:latin typeface="Red Hat Display" panose="02010303040201060303" pitchFamily="2" charset="0"/>
                <a:ea typeface="Red Hat Display" panose="02010303040201060303" pitchFamily="2" charset="0"/>
                <a:cs typeface="Red Hat Display" panose="02010303040201060303" pitchFamily="2" charset="0"/>
              </a:rPr>
              <a:t>OSPF</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Border Gateway Protocol (</a:t>
            </a:r>
            <a:r>
              <a:rPr lang="en-US" b="1" dirty="0">
                <a:latin typeface="Red Hat Display" panose="02010303040201060303" pitchFamily="2" charset="0"/>
                <a:ea typeface="Red Hat Display" panose="02010303040201060303" pitchFamily="2" charset="0"/>
                <a:cs typeface="Red Hat Display" panose="02010303040201060303" pitchFamily="2" charset="0"/>
              </a:rPr>
              <a:t>BGP</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Interior Gateway Routing Protocol (</a:t>
            </a:r>
            <a:r>
              <a:rPr lang="en-US" b="1" dirty="0">
                <a:latin typeface="Red Hat Display" panose="02010303040201060303" pitchFamily="2" charset="0"/>
                <a:ea typeface="Red Hat Display" panose="02010303040201060303" pitchFamily="2" charset="0"/>
                <a:cs typeface="Red Hat Display" panose="02010303040201060303" pitchFamily="2" charset="0"/>
              </a:rPr>
              <a:t>IGRP</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Enhanced Interior Gateway Routing Protocol (</a:t>
            </a:r>
            <a:r>
              <a:rPr lang="en-US" b="1" dirty="0">
                <a:latin typeface="Red Hat Display" panose="02010303040201060303" pitchFamily="2" charset="0"/>
                <a:ea typeface="Red Hat Display" panose="02010303040201060303" pitchFamily="2" charset="0"/>
                <a:cs typeface="Red Hat Display" panose="02010303040201060303" pitchFamily="2" charset="0"/>
              </a:rPr>
              <a:t>EIGRP</a:t>
            </a:r>
            <a:r>
              <a:rPr lang="en-US" dirty="0">
                <a:latin typeface="Red Hat Display" panose="02010303040201060303" pitchFamily="2" charset="0"/>
                <a:ea typeface="Red Hat Display" panose="02010303040201060303" pitchFamily="2" charset="0"/>
                <a:cs typeface="Red Hat Display" panose="02010303040201060303" pitchFamily="2" charset="0"/>
              </a:rPr>
              <a: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Exterior Gateway Protocol (</a:t>
            </a:r>
            <a:r>
              <a:rPr lang="en-US" b="1" dirty="0">
                <a:latin typeface="Red Hat Display" panose="02010303040201060303" pitchFamily="2" charset="0"/>
                <a:ea typeface="Red Hat Display" panose="02010303040201060303" pitchFamily="2" charset="0"/>
                <a:cs typeface="Red Hat Display" panose="02010303040201060303" pitchFamily="2" charset="0"/>
              </a:rPr>
              <a:t>EGP</a:t>
            </a:r>
            <a:r>
              <a:rPr lang="en-US" dirty="0">
                <a:latin typeface="Red Hat Display" panose="02010303040201060303" pitchFamily="2" charset="0"/>
                <a:ea typeface="Red Hat Display" panose="02010303040201060303" pitchFamily="2" charset="0"/>
                <a:cs typeface="Red Hat Display" panose="02010303040201060303" pitchFamily="2" charset="0"/>
              </a:rPr>
              <a:t>)</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pic>
        <p:nvPicPr>
          <p:cNvPr id="1026" name="Picture 2" descr="Routing v/s Routed Protocols in Computer Network - GeeksforGeeks">
            <a:extLst>
              <a:ext uri="{FF2B5EF4-FFF2-40B4-BE49-F238E27FC236}">
                <a16:creationId xmlns:a16="http://schemas.microsoft.com/office/drawing/2014/main" id="{30CC9314-AF75-EBEB-6657-CBC134D81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9963" y="1593946"/>
            <a:ext cx="5432037" cy="3670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8494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Dynamic Routing Protocol</a:t>
            </a:r>
          </a:p>
        </p:txBody>
      </p:sp>
      <p:pic>
        <p:nvPicPr>
          <p:cNvPr id="6" name="Picture 5">
            <a:extLst>
              <a:ext uri="{FF2B5EF4-FFF2-40B4-BE49-F238E27FC236}">
                <a16:creationId xmlns:a16="http://schemas.microsoft.com/office/drawing/2014/main" id="{9D6BFFC3-0E87-166C-2420-1657EA7BA431}"/>
              </a:ext>
            </a:extLst>
          </p:cNvPr>
          <p:cNvPicPr>
            <a:picLocks noChangeAspect="1"/>
          </p:cNvPicPr>
          <p:nvPr/>
        </p:nvPicPr>
        <p:blipFill>
          <a:blip r:embed="rId2"/>
          <a:srcRect l="8889" t="29506" r="11111" b="4321"/>
          <a:stretch/>
        </p:blipFill>
        <p:spPr>
          <a:xfrm>
            <a:off x="1219199" y="1270861"/>
            <a:ext cx="9753601" cy="4538135"/>
          </a:xfrm>
          <a:prstGeom prst="rect">
            <a:avLst/>
          </a:prstGeom>
        </p:spPr>
      </p:pic>
    </p:spTree>
    <p:extLst>
      <p:ext uri="{BB962C8B-B14F-4D97-AF65-F5344CB8AC3E}">
        <p14:creationId xmlns:p14="http://schemas.microsoft.com/office/powerpoint/2010/main" val="3862109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normAutofit fontScale="90000"/>
          </a:bodyPr>
          <a:lstStyle/>
          <a:p>
            <a:r>
              <a:rPr lang="en-US" dirty="0"/>
              <a:t>What is an Internet Protocol (IP) Address?</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39"/>
            <a:ext cx="11162603" cy="5165569"/>
          </a:xfrm>
        </p:spPr>
        <p:txBody>
          <a:bodyPr>
            <a:normAutofit lnSpcReduction="1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An Internet Protocol (IP) address is a unique identifier assigned to each device connected to a network. This address enables devices to locate each other and communicate across networks, such as local area networks (LANs) and the internet.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An IP address functions like a "home address" for each device, directing data to the correct destination.</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There are two main types of IP addresses in use today:</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IPv4 (Internet Protocol version 4)</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IPv6 (Internet Protocol version 6)</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00409941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IPv4 Addresses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IPv4 is the older and more widely used IP addressing format. An IPv4 address is a 32-bit number divided into four 8-bit sections (octets), each separated by a dot.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Each octet can hold a value between 0 and 255, resulting in an address structure like 192.168.1.1.</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pic>
        <p:nvPicPr>
          <p:cNvPr id="5" name="Picture 4">
            <a:extLst>
              <a:ext uri="{FF2B5EF4-FFF2-40B4-BE49-F238E27FC236}">
                <a16:creationId xmlns:a16="http://schemas.microsoft.com/office/drawing/2014/main" id="{5FB0E2F9-8F97-D3FB-0F69-3C12A74E781E}"/>
              </a:ext>
            </a:extLst>
          </p:cNvPr>
          <p:cNvPicPr>
            <a:picLocks noChangeAspect="1"/>
          </p:cNvPicPr>
          <p:nvPr/>
        </p:nvPicPr>
        <p:blipFill>
          <a:blip r:embed="rId2"/>
          <a:stretch>
            <a:fillRect/>
          </a:stretch>
        </p:blipFill>
        <p:spPr>
          <a:xfrm>
            <a:off x="985055" y="4467676"/>
            <a:ext cx="10221890" cy="1265567"/>
          </a:xfrm>
          <a:prstGeom prst="rect">
            <a:avLst/>
          </a:prstGeom>
        </p:spPr>
      </p:pic>
    </p:spTree>
    <p:extLst>
      <p:ext uri="{BB962C8B-B14F-4D97-AF65-F5344CB8AC3E}">
        <p14:creationId xmlns:p14="http://schemas.microsoft.com/office/powerpoint/2010/main" val="32242011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IPv6 Addresses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To address IPv4 limitations, IPv6 was introduced. IPv6 uses a 128-bit address format, which allows for an astronomically large number of unique addresses.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Instead of the four-octet structure of IPv4, IPv6 addresses are written as eight groups of four hexadecimal digits separated by colons. This structure supports over 340 undecillion addresses.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pic>
        <p:nvPicPr>
          <p:cNvPr id="5" name="Picture 4">
            <a:extLst>
              <a:ext uri="{FF2B5EF4-FFF2-40B4-BE49-F238E27FC236}">
                <a16:creationId xmlns:a16="http://schemas.microsoft.com/office/drawing/2014/main" id="{30C630AB-4034-359E-6BE2-A834C3ABAD86}"/>
              </a:ext>
            </a:extLst>
          </p:cNvPr>
          <p:cNvPicPr>
            <a:picLocks noChangeAspect="1"/>
          </p:cNvPicPr>
          <p:nvPr/>
        </p:nvPicPr>
        <p:blipFill>
          <a:blip r:embed="rId2"/>
          <a:stretch>
            <a:fillRect/>
          </a:stretch>
        </p:blipFill>
        <p:spPr>
          <a:xfrm>
            <a:off x="600611" y="4988304"/>
            <a:ext cx="11177249" cy="794712"/>
          </a:xfrm>
          <a:prstGeom prst="rect">
            <a:avLst/>
          </a:prstGeom>
        </p:spPr>
      </p:pic>
    </p:spTree>
    <p:extLst>
      <p:ext uri="{BB962C8B-B14F-4D97-AF65-F5344CB8AC3E}">
        <p14:creationId xmlns:p14="http://schemas.microsoft.com/office/powerpoint/2010/main" val="11950713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Types of IP Addresses: Public and Private</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In addition to IPv4 and IPv6 differences, IP addresses are also classified as public or private:</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Public IP Addresses </a:t>
            </a:r>
            <a:r>
              <a:rPr lang="en-US" dirty="0">
                <a:latin typeface="Red Hat Display" panose="02010303040201060303" pitchFamily="2" charset="0"/>
                <a:ea typeface="Red Hat Display" panose="02010303040201060303" pitchFamily="2" charset="0"/>
                <a:cs typeface="Red Hat Display" panose="02010303040201060303" pitchFamily="2" charset="0"/>
              </a:rPr>
              <a:t>are globally unique and accessible over the internet. They are assigned by the Internet Assigned Numbers Authority (IANA) and are used to identify devices on a wide-scale network, such as the internet.</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Private IP Addresses </a:t>
            </a:r>
            <a:r>
              <a:rPr lang="en-US" dirty="0">
                <a:latin typeface="Red Hat Display" panose="02010303040201060303" pitchFamily="2" charset="0"/>
                <a:ea typeface="Red Hat Display" panose="02010303040201060303" pitchFamily="2" charset="0"/>
                <a:cs typeface="Red Hat Display" panose="02010303040201060303" pitchFamily="2" charset="0"/>
              </a:rPr>
              <a:t>are used within private networks (e.g., home or office networks). These addresses are not unique globally and are meant for devices within a single network to communicate without directly connecting to the internet.</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5128442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Private IP Address Ranges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marL="0" indent="0" algn="just">
              <a:lnSpc>
                <a:spcPct val="200000"/>
              </a:lnSpc>
              <a:buNone/>
            </a:pPr>
            <a:r>
              <a:rPr lang="en-US" dirty="0">
                <a:latin typeface="Red Hat Display" panose="02010303040201060303" pitchFamily="2" charset="0"/>
                <a:ea typeface="Red Hat Display" panose="02010303040201060303" pitchFamily="2" charset="0"/>
                <a:cs typeface="Red Hat Display" panose="02010303040201060303" pitchFamily="2" charset="0"/>
              </a:rPr>
              <a:t>The private address ranges set by the Internet Engineering Task Force (IETF) for IPv4 are:</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 A:</a:t>
            </a:r>
            <a:r>
              <a:rPr lang="en-US" dirty="0">
                <a:latin typeface="Red Hat Display" panose="02010303040201060303" pitchFamily="2" charset="0"/>
                <a:ea typeface="Red Hat Display" panose="02010303040201060303" pitchFamily="2" charset="0"/>
                <a:cs typeface="Red Hat Display" panose="02010303040201060303" pitchFamily="2" charset="0"/>
              </a:rPr>
              <a:t> 10.0.0.0 to 10.255.255.255</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 B: </a:t>
            </a:r>
            <a:r>
              <a:rPr lang="en-US" dirty="0">
                <a:latin typeface="Red Hat Display" panose="02010303040201060303" pitchFamily="2" charset="0"/>
                <a:ea typeface="Red Hat Display" panose="02010303040201060303" pitchFamily="2" charset="0"/>
                <a:cs typeface="Red Hat Display" panose="02010303040201060303" pitchFamily="2" charset="0"/>
              </a:rPr>
              <a:t>172.16.0.0 to 172.31.255.255</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 C: </a:t>
            </a:r>
            <a:r>
              <a:rPr lang="en-US" dirty="0">
                <a:latin typeface="Red Hat Display" panose="02010303040201060303" pitchFamily="2" charset="0"/>
                <a:ea typeface="Red Hat Display" panose="02010303040201060303" pitchFamily="2" charset="0"/>
                <a:cs typeface="Red Hat Display" panose="02010303040201060303" pitchFamily="2" charset="0"/>
              </a:rPr>
              <a:t>192.168.0.0 to 192.168.255.255</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661754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Role of IP Addresses in Networking</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1033450" cy="5290807"/>
          </a:xfrm>
        </p:spPr>
        <p:txBody>
          <a:bodyPr>
            <a:normAutofit fontScale="92500" lnSpcReduction="1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IP address is vital for:</a:t>
            </a:r>
          </a:p>
          <a:p>
            <a:pPr marL="617220" lvl="1" indent="-342900" algn="just">
              <a:lnSpc>
                <a:spcPct val="200000"/>
              </a:lnSpc>
              <a:buFont typeface="+mj-lt"/>
              <a:buAutoNum type="arabicPeriod"/>
            </a:pPr>
            <a:r>
              <a:rPr lang="en-US" b="1" dirty="0">
                <a:latin typeface="Red Hat Display" panose="02010303040201060303" pitchFamily="2" charset="0"/>
                <a:ea typeface="Red Hat Display" panose="02010303040201060303" pitchFamily="2" charset="0"/>
                <a:cs typeface="Red Hat Display" panose="02010303040201060303" pitchFamily="2" charset="0"/>
              </a:rPr>
              <a:t>Routing data between networks</a:t>
            </a:r>
            <a:r>
              <a:rPr lang="en-US" dirty="0">
                <a:latin typeface="Red Hat Display" panose="02010303040201060303" pitchFamily="2" charset="0"/>
                <a:ea typeface="Red Hat Display" panose="02010303040201060303" pitchFamily="2" charset="0"/>
                <a:cs typeface="Red Hat Display" panose="02010303040201060303" pitchFamily="2" charset="0"/>
              </a:rPr>
              <a:t>: Routers use IP addresses to forward packets to the correct destination.</a:t>
            </a:r>
          </a:p>
          <a:p>
            <a:pPr marL="617220" lvl="1" indent="-342900" algn="just">
              <a:lnSpc>
                <a:spcPct val="200000"/>
              </a:lnSpc>
              <a:buFont typeface="+mj-lt"/>
              <a:buAutoNum type="arabicPeriod"/>
            </a:pPr>
            <a:r>
              <a:rPr lang="en-US" b="1" dirty="0">
                <a:latin typeface="Red Hat Display" panose="02010303040201060303" pitchFamily="2" charset="0"/>
                <a:ea typeface="Red Hat Display" panose="02010303040201060303" pitchFamily="2" charset="0"/>
                <a:cs typeface="Red Hat Display" panose="02010303040201060303" pitchFamily="2" charset="0"/>
              </a:rPr>
              <a:t>Identifying devices in a network</a:t>
            </a:r>
            <a:r>
              <a:rPr lang="en-US" dirty="0">
                <a:latin typeface="Red Hat Display" panose="02010303040201060303" pitchFamily="2" charset="0"/>
                <a:ea typeface="Red Hat Display" panose="02010303040201060303" pitchFamily="2" charset="0"/>
                <a:cs typeface="Red Hat Display" panose="02010303040201060303" pitchFamily="2" charset="0"/>
              </a:rPr>
              <a:t>: Each device on a network has a unique IP address, which is used to locate and communicate with other devices.</a:t>
            </a:r>
          </a:p>
          <a:p>
            <a:pPr marL="617220" lvl="1" indent="-342900" algn="just">
              <a:lnSpc>
                <a:spcPct val="200000"/>
              </a:lnSpc>
              <a:buFont typeface="+mj-lt"/>
              <a:buAutoNum type="arabicPeriod"/>
            </a:pPr>
            <a:r>
              <a:rPr lang="en-US" b="1" dirty="0">
                <a:latin typeface="Red Hat Display" panose="02010303040201060303" pitchFamily="2" charset="0"/>
                <a:ea typeface="Red Hat Display" panose="02010303040201060303" pitchFamily="2" charset="0"/>
                <a:cs typeface="Red Hat Display" panose="02010303040201060303" pitchFamily="2" charset="0"/>
              </a:rPr>
              <a:t>Providing security and control</a:t>
            </a:r>
            <a:r>
              <a:rPr lang="en-US" dirty="0">
                <a:latin typeface="Red Hat Display" panose="02010303040201060303" pitchFamily="2" charset="0"/>
                <a:ea typeface="Red Hat Display" panose="02010303040201060303" pitchFamily="2" charset="0"/>
                <a:cs typeface="Red Hat Display" panose="02010303040201060303" pitchFamily="2" charset="0"/>
              </a:rPr>
              <a:t>: IP addresses allow network administrators to manage access, control routing, and set up security protocols.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Each IP address consists of two parts:</a:t>
            </a:r>
          </a:p>
          <a:p>
            <a:pPr marL="617220" lvl="1" indent="-342900" algn="just">
              <a:lnSpc>
                <a:spcPct val="200000"/>
              </a:lnSpc>
              <a:buFont typeface="+mj-lt"/>
              <a:buAutoNum type="arabicPeriod"/>
            </a:pPr>
            <a:r>
              <a:rPr lang="en-US" b="1" dirty="0">
                <a:latin typeface="Red Hat Display" panose="02010303040201060303" pitchFamily="2" charset="0"/>
                <a:ea typeface="Red Hat Display" panose="02010303040201060303" pitchFamily="2" charset="0"/>
                <a:cs typeface="Red Hat Display" panose="02010303040201060303" pitchFamily="2" charset="0"/>
              </a:rPr>
              <a:t>Network portion</a:t>
            </a:r>
            <a:r>
              <a:rPr lang="en-US" dirty="0">
                <a:latin typeface="Red Hat Display" panose="02010303040201060303" pitchFamily="2" charset="0"/>
                <a:ea typeface="Red Hat Display" panose="02010303040201060303" pitchFamily="2" charset="0"/>
                <a:cs typeface="Red Hat Display" panose="02010303040201060303" pitchFamily="2" charset="0"/>
              </a:rPr>
              <a:t>: Identifies the specific network.</a:t>
            </a:r>
          </a:p>
          <a:p>
            <a:pPr marL="617220" lvl="1" indent="-342900" algn="just">
              <a:lnSpc>
                <a:spcPct val="200000"/>
              </a:lnSpc>
              <a:buFont typeface="+mj-lt"/>
              <a:buAutoNum type="arabicPeriod"/>
            </a:pPr>
            <a:r>
              <a:rPr lang="en-US" b="1" dirty="0">
                <a:latin typeface="Red Hat Display" panose="02010303040201060303" pitchFamily="2" charset="0"/>
                <a:ea typeface="Red Hat Display" panose="02010303040201060303" pitchFamily="2" charset="0"/>
                <a:cs typeface="Red Hat Display" panose="02010303040201060303" pitchFamily="2" charset="0"/>
              </a:rPr>
              <a:t>Host portion</a:t>
            </a:r>
            <a:r>
              <a:rPr lang="en-US" dirty="0">
                <a:latin typeface="Red Hat Display" panose="02010303040201060303" pitchFamily="2" charset="0"/>
                <a:ea typeface="Red Hat Display" panose="02010303040201060303" pitchFamily="2" charset="0"/>
                <a:cs typeface="Red Hat Display" panose="02010303040201060303" pitchFamily="2" charset="0"/>
              </a:rPr>
              <a:t>: Identifies the individual device within that network.</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9960739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IP Address Classes (IPv4)</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557939" y="1441344"/>
            <a:ext cx="5343041"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 A (1.0.0.0 to 126.0.0.0):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Supports large networks with millions of hosts.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A has a default mask of </a:t>
            </a:r>
            <a:r>
              <a:rPr lang="en-US" i="1" dirty="0">
                <a:latin typeface="Red Hat Display" panose="02010303040201060303" pitchFamily="2" charset="0"/>
                <a:ea typeface="Red Hat Display" panose="02010303040201060303" pitchFamily="2" charset="0"/>
                <a:cs typeface="Red Hat Display" panose="02010303040201060303" pitchFamily="2" charset="0"/>
              </a:rPr>
              <a:t>255.0.0.0</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 B (128.0.0.0 to 191.255.0.0):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Designed for medium-sized networks.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B has a default mask of </a:t>
            </a:r>
            <a:r>
              <a:rPr lang="en-US" i="1" dirty="0">
                <a:latin typeface="Red Hat Display" panose="02010303040201060303" pitchFamily="2" charset="0"/>
                <a:ea typeface="Red Hat Display" panose="02010303040201060303" pitchFamily="2" charset="0"/>
                <a:cs typeface="Red Hat Display" panose="02010303040201060303" pitchFamily="2" charset="0"/>
              </a:rPr>
              <a:t>255.255.0.0</a:t>
            </a:r>
          </a:p>
        </p:txBody>
      </p:sp>
      <p:sp>
        <p:nvSpPr>
          <p:cNvPr id="5" name="Content Placeholder 2">
            <a:extLst>
              <a:ext uri="{FF2B5EF4-FFF2-40B4-BE49-F238E27FC236}">
                <a16:creationId xmlns:a16="http://schemas.microsoft.com/office/drawing/2014/main" id="{A6036377-7704-C4E9-EE63-AD292A25A52B}"/>
              </a:ext>
            </a:extLst>
          </p:cNvPr>
          <p:cNvSpPr txBox="1">
            <a:spLocks/>
          </p:cNvSpPr>
          <p:nvPr/>
        </p:nvSpPr>
        <p:spPr>
          <a:xfrm>
            <a:off x="6096000" y="1441344"/>
            <a:ext cx="5343041" cy="5089328"/>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200"/>
              </a:spcBef>
              <a:buClr>
                <a:schemeClr val="accent1">
                  <a:lumMod val="75000"/>
                </a:schemeClr>
              </a:buClr>
              <a:buSzPct val="85000"/>
              <a:buFont typeface="Arial" panose="020B0604020202020204" pitchFamily="34" charset="0"/>
              <a:buChar char="•"/>
              <a:defRPr sz="2000" kern="1200">
                <a:solidFill>
                  <a:schemeClr val="tx1"/>
                </a:solidFill>
                <a:latin typeface="+mn-lt"/>
                <a:ea typeface="+mn-ea"/>
                <a:cs typeface="+mn-cs"/>
              </a:defRPr>
            </a:lvl1pPr>
            <a:lvl2pPr marL="56007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800" kern="1200">
                <a:solidFill>
                  <a:schemeClr val="tx1"/>
                </a:solidFill>
                <a:latin typeface="+mn-lt"/>
                <a:ea typeface="+mn-ea"/>
                <a:cs typeface="+mn-cs"/>
              </a:defRPr>
            </a:lvl2pPr>
            <a:lvl3pPr marL="83439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3pPr>
            <a:lvl4pPr marL="110871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4pPr>
            <a:lvl5pPr marL="1383030" indent="-285750" algn="l" defTabSz="914400" rtl="0" eaLnBrk="1" latinLnBrk="0" hangingPunct="1">
              <a:lnSpc>
                <a:spcPct val="90000"/>
              </a:lnSpc>
              <a:spcBef>
                <a:spcPts val="400"/>
              </a:spcBef>
              <a:spcAft>
                <a:spcPts val="200"/>
              </a:spcAft>
              <a:buClr>
                <a:schemeClr val="accent1">
                  <a:lumMod val="75000"/>
                </a:schemeClr>
              </a:buClr>
              <a:buSzPct val="85000"/>
              <a:buFont typeface="Arial" panose="020B0604020202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 C (192.0.0.0 to 223.255.255.0): </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Ideal for small networks, supporting up to 254 hosts.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C has a default mask of </a:t>
            </a:r>
            <a:r>
              <a:rPr lang="en-US" i="1" dirty="0">
                <a:latin typeface="Red Hat Display" panose="02010303040201060303" pitchFamily="2" charset="0"/>
                <a:ea typeface="Red Hat Display" panose="02010303040201060303" pitchFamily="2" charset="0"/>
                <a:cs typeface="Red Hat Display" panose="02010303040201060303" pitchFamily="2" charset="0"/>
              </a:rPr>
              <a:t>255.255.255.0</a:t>
            </a:r>
            <a:endParaRPr lang="en-IN" i="1"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2324254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69B66-0310-3B15-B8B3-27025F675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D3793A-7341-142C-85A7-3CC459F01F63}"/>
              </a:ext>
            </a:extLst>
          </p:cNvPr>
          <p:cNvSpPr>
            <a:spLocks noGrp="1"/>
          </p:cNvSpPr>
          <p:nvPr>
            <p:ph type="title"/>
          </p:nvPr>
        </p:nvSpPr>
        <p:spPr>
          <a:xfrm>
            <a:off x="557939" y="220091"/>
            <a:ext cx="10753189" cy="1050770"/>
          </a:xfrm>
        </p:spPr>
        <p:txBody>
          <a:bodyPr/>
          <a:lstStyle/>
          <a:p>
            <a:r>
              <a:rPr lang="en-IN" dirty="0"/>
              <a:t>IPv4 Address Classes</a:t>
            </a:r>
          </a:p>
        </p:txBody>
      </p:sp>
      <p:sp>
        <p:nvSpPr>
          <p:cNvPr id="3" name="Content Placeholder 2">
            <a:extLst>
              <a:ext uri="{FF2B5EF4-FFF2-40B4-BE49-F238E27FC236}">
                <a16:creationId xmlns:a16="http://schemas.microsoft.com/office/drawing/2014/main" id="{EA877705-62FE-1590-B5CF-75F3A1AF656E}"/>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A (1.0.0.0 to 126.0.0.0): Supports large networks with millions of hosts.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B (128.0.0.0 to 191.255.0.0): Supports medium-sized networks.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C (192.0.0.0 to 223.255.255.0): Ideal for small networks.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D (224.0.0.0 to 239.255.255.255): Reserved for multicast.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E (240.0.0.0 to 255.255.255.255): Reserved for experimental or research purposes.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45060604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IPv6 Address Types </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IPv6 addresses are also categorized by type, based on the intended application:</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Unicast</a:t>
            </a:r>
            <a:r>
              <a:rPr lang="en-US" dirty="0">
                <a:latin typeface="Red Hat Display" panose="02010303040201060303" pitchFamily="2" charset="0"/>
                <a:ea typeface="Red Hat Display" panose="02010303040201060303" pitchFamily="2" charset="0"/>
                <a:cs typeface="Red Hat Display" panose="02010303040201060303" pitchFamily="2" charset="0"/>
              </a:rPr>
              <a:t>: Assigned to a single interface, allowing one-to-one communication.</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Multicast</a:t>
            </a:r>
            <a:r>
              <a:rPr lang="en-US" dirty="0">
                <a:latin typeface="Red Hat Display" panose="02010303040201060303" pitchFamily="2" charset="0"/>
                <a:ea typeface="Red Hat Display" panose="02010303040201060303" pitchFamily="2" charset="0"/>
                <a:cs typeface="Red Hat Display" panose="02010303040201060303" pitchFamily="2" charset="0"/>
              </a:rPr>
              <a:t>: Intended for one-to-many communication.</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Anycast</a:t>
            </a:r>
            <a:r>
              <a:rPr lang="en-US" dirty="0">
                <a:latin typeface="Red Hat Display" panose="02010303040201060303" pitchFamily="2" charset="0"/>
                <a:ea typeface="Red Hat Display" panose="02010303040201060303" pitchFamily="2" charset="0"/>
                <a:cs typeface="Red Hat Display" panose="02010303040201060303" pitchFamily="2" charset="0"/>
              </a:rPr>
              <a:t>: Assigned to multiple interfaces, with packets routed to the nearest device.</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IPv6 utilizes CIDR notation and prefixes to determine the address range:</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Global Unicast Addresses</a:t>
            </a:r>
            <a:r>
              <a:rPr lang="en-US" dirty="0">
                <a:latin typeface="Red Hat Display" panose="02010303040201060303" pitchFamily="2" charset="0"/>
                <a:ea typeface="Red Hat Display" panose="02010303040201060303" pitchFamily="2" charset="0"/>
                <a:cs typeface="Red Hat Display" panose="02010303040201060303" pitchFamily="2" charset="0"/>
              </a:rPr>
              <a:t>: Range from 2000::/3, used for routing globally.</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Link-Local Addresses</a:t>
            </a:r>
            <a:r>
              <a:rPr lang="en-US" dirty="0">
                <a:latin typeface="Red Hat Display" panose="02010303040201060303" pitchFamily="2" charset="0"/>
                <a:ea typeface="Red Hat Display" panose="02010303040201060303" pitchFamily="2" charset="0"/>
                <a:cs typeface="Red Hat Display" panose="02010303040201060303" pitchFamily="2" charset="0"/>
              </a:rPr>
              <a:t>: Range from fe80::/10, used within a single network segment.</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2971326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3EB07-015D-72E7-7F91-FE4CCD762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9C6EF-194E-1053-6322-69240CA33315}"/>
              </a:ext>
            </a:extLst>
          </p:cNvPr>
          <p:cNvSpPr>
            <a:spLocks noGrp="1"/>
          </p:cNvSpPr>
          <p:nvPr>
            <p:ph type="title"/>
          </p:nvPr>
        </p:nvSpPr>
        <p:spPr>
          <a:xfrm>
            <a:off x="557939" y="220091"/>
            <a:ext cx="10753189" cy="1050770"/>
          </a:xfrm>
        </p:spPr>
        <p:txBody>
          <a:bodyPr/>
          <a:lstStyle/>
          <a:p>
            <a:r>
              <a:rPr lang="en-IN" dirty="0"/>
              <a:t>Unicast Communication</a:t>
            </a:r>
          </a:p>
        </p:txBody>
      </p:sp>
      <p:sp>
        <p:nvSpPr>
          <p:cNvPr id="3" name="Content Placeholder 2">
            <a:extLst>
              <a:ext uri="{FF2B5EF4-FFF2-40B4-BE49-F238E27FC236}">
                <a16:creationId xmlns:a16="http://schemas.microsoft.com/office/drawing/2014/main" id="{6067D2A9-FB9C-7899-BD6B-B2A87AFF5400}"/>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Unicast refers to one-to-one communication between a single sender and a single receiver. In unicast, data packets are sent from one device (source) to another specific device (destination), identified by a unique IP address.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Example of Unicast in Networking:</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When a user requests a webpage, the request and response between the client and the web server occur over a unicast channel. The server sends the requested content directly to the requesting client’s IP address.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31908376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81998-6962-F5BC-2673-7FFBFEDCE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EF183-8B9E-F168-6DC3-E33AA88A0AD3}"/>
              </a:ext>
            </a:extLst>
          </p:cNvPr>
          <p:cNvSpPr>
            <a:spLocks noGrp="1"/>
          </p:cNvSpPr>
          <p:nvPr>
            <p:ph type="title"/>
          </p:nvPr>
        </p:nvSpPr>
        <p:spPr>
          <a:xfrm>
            <a:off x="557939" y="220091"/>
            <a:ext cx="10753189" cy="1050770"/>
          </a:xfrm>
        </p:spPr>
        <p:txBody>
          <a:bodyPr/>
          <a:lstStyle/>
          <a:p>
            <a:r>
              <a:rPr lang="en-IN" dirty="0"/>
              <a:t>Characteristics of Unicast</a:t>
            </a:r>
          </a:p>
        </p:txBody>
      </p:sp>
      <p:sp>
        <p:nvSpPr>
          <p:cNvPr id="3" name="Content Placeholder 2">
            <a:extLst>
              <a:ext uri="{FF2B5EF4-FFF2-40B4-BE49-F238E27FC236}">
                <a16:creationId xmlns:a16="http://schemas.microsoft.com/office/drawing/2014/main" id="{B8FBC6F3-1C89-324B-FC01-D4E27DF19524}"/>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One-to-One Communication</a:t>
            </a:r>
            <a:r>
              <a:rPr lang="en-US" dirty="0">
                <a:latin typeface="Red Hat Display" panose="02010303040201060303" pitchFamily="2" charset="0"/>
                <a:ea typeface="Red Hat Display" panose="02010303040201060303" pitchFamily="2" charset="0"/>
                <a:cs typeface="Red Hat Display" panose="02010303040201060303" pitchFamily="2" charset="0"/>
              </a:rPr>
              <a:t>: Only one sender and one receiver are involved.</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Direct Route</a:t>
            </a:r>
            <a:r>
              <a:rPr lang="en-US" dirty="0">
                <a:latin typeface="Red Hat Display" panose="02010303040201060303" pitchFamily="2" charset="0"/>
                <a:ea typeface="Red Hat Display" panose="02010303040201060303" pitchFamily="2" charset="0"/>
                <a:cs typeface="Red Hat Display" panose="02010303040201060303" pitchFamily="2" charset="0"/>
              </a:rPr>
              <a:t>: The data packet travels directly from source to destination, without involving other devices.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Private and Personalized</a:t>
            </a:r>
            <a:r>
              <a:rPr lang="en-US" dirty="0">
                <a:latin typeface="Red Hat Display" panose="02010303040201060303" pitchFamily="2" charset="0"/>
                <a:ea typeface="Red Hat Display" panose="02010303040201060303" pitchFamily="2" charset="0"/>
                <a:cs typeface="Red Hat Display" panose="02010303040201060303" pitchFamily="2" charset="0"/>
              </a:rPr>
              <a:t>: The data transfer is intended only for the receiver, making it secure and private.</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Common in Client-Server Communication</a:t>
            </a:r>
            <a:r>
              <a:rPr lang="en-US" dirty="0">
                <a:latin typeface="Red Hat Display" panose="02010303040201060303" pitchFamily="2" charset="0"/>
                <a:ea typeface="Red Hat Display" panose="02010303040201060303" pitchFamily="2" charset="0"/>
                <a:cs typeface="Red Hat Display" panose="02010303040201060303" pitchFamily="2" charset="0"/>
              </a:rPr>
              <a:t>: Most internet traffic, such as web browsing, email, and file transfer, uses unicast communication.</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3654256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BABCB-A60D-E77E-7173-0D73BA70F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A2979-556C-A1C2-4A91-DEE92D499C19}"/>
              </a:ext>
            </a:extLst>
          </p:cNvPr>
          <p:cNvSpPr>
            <a:spLocks noGrp="1"/>
          </p:cNvSpPr>
          <p:nvPr>
            <p:ph type="title"/>
          </p:nvPr>
        </p:nvSpPr>
        <p:spPr>
          <a:xfrm>
            <a:off x="557939" y="220091"/>
            <a:ext cx="10753189" cy="1050770"/>
          </a:xfrm>
        </p:spPr>
        <p:txBody>
          <a:bodyPr/>
          <a:lstStyle/>
          <a:p>
            <a:r>
              <a:rPr lang="en-IN" dirty="0"/>
              <a:t>Multicast Communication</a:t>
            </a:r>
          </a:p>
        </p:txBody>
      </p:sp>
      <p:sp>
        <p:nvSpPr>
          <p:cNvPr id="3" name="Content Placeholder 2">
            <a:extLst>
              <a:ext uri="{FF2B5EF4-FFF2-40B4-BE49-F238E27FC236}">
                <a16:creationId xmlns:a16="http://schemas.microsoft.com/office/drawing/2014/main" id="{24416BD8-B5DC-BB5C-544D-284D6077F90E}"/>
              </a:ext>
            </a:extLst>
          </p:cNvPr>
          <p:cNvSpPr>
            <a:spLocks noGrp="1"/>
          </p:cNvSpPr>
          <p:nvPr>
            <p:ph idx="1"/>
          </p:nvPr>
        </p:nvSpPr>
        <p:spPr>
          <a:xfrm>
            <a:off x="600611" y="1472340"/>
            <a:ext cx="11271091" cy="5089328"/>
          </a:xfrm>
        </p:spPr>
        <p:txBody>
          <a:bodyPr>
            <a:normAutofit fontScale="92500"/>
          </a:bodyPr>
          <a:lstStyle/>
          <a:p>
            <a:pPr algn="just">
              <a:lnSpc>
                <a:spcPct val="200000"/>
              </a:lnSpc>
            </a:pPr>
            <a:r>
              <a:rPr lang="en-US" sz="1800" dirty="0">
                <a:latin typeface="Red Hat Display" panose="02010303040201060303" pitchFamily="2" charset="0"/>
                <a:ea typeface="Red Hat Display" panose="02010303040201060303" pitchFamily="2" charset="0"/>
                <a:cs typeface="Red Hat Display" panose="02010303040201060303" pitchFamily="2" charset="0"/>
              </a:rPr>
              <a:t>Multicast is a form of communication where data packets are sent from one sender to multiple selected recipients. </a:t>
            </a:r>
          </a:p>
          <a:p>
            <a:pPr algn="just">
              <a:lnSpc>
                <a:spcPct val="200000"/>
              </a:lnSpc>
            </a:pPr>
            <a:r>
              <a:rPr lang="en-US" sz="1800" dirty="0">
                <a:latin typeface="Red Hat Display" panose="02010303040201060303" pitchFamily="2" charset="0"/>
                <a:ea typeface="Red Hat Display" panose="02010303040201060303" pitchFamily="2" charset="0"/>
                <a:cs typeface="Red Hat Display" panose="02010303040201060303" pitchFamily="2" charset="0"/>
              </a:rPr>
              <a:t>Unlike unicast, multicast allows for a one-to-many transmission without sending multiple copies of the same data. </a:t>
            </a:r>
          </a:p>
          <a:p>
            <a:pPr algn="just">
              <a:lnSpc>
                <a:spcPct val="200000"/>
              </a:lnSpc>
            </a:pPr>
            <a:r>
              <a:rPr lang="en-US" sz="1800" dirty="0">
                <a:latin typeface="Red Hat Display" panose="02010303040201060303" pitchFamily="2" charset="0"/>
                <a:ea typeface="Red Hat Display" panose="02010303040201060303" pitchFamily="2" charset="0"/>
                <a:cs typeface="Red Hat Display" panose="02010303040201060303" pitchFamily="2" charset="0"/>
              </a:rPr>
              <a:t>It’s particularly useful in applications where data needs to reach multiple receivers but not the entire network.</a:t>
            </a:r>
          </a:p>
          <a:p>
            <a:pPr algn="just">
              <a:lnSpc>
                <a:spcPct val="200000"/>
              </a:lnSpc>
            </a:pPr>
            <a:r>
              <a:rPr lang="en-US" sz="1800" dirty="0">
                <a:latin typeface="Red Hat Display" panose="02010303040201060303" pitchFamily="2" charset="0"/>
                <a:ea typeface="Red Hat Display" panose="02010303040201060303" pitchFamily="2" charset="0"/>
                <a:cs typeface="Red Hat Display" panose="02010303040201060303" pitchFamily="2" charset="0"/>
              </a:rPr>
              <a:t>Example of Multicast in Networking:</a:t>
            </a:r>
          </a:p>
          <a:p>
            <a:pPr lvl="1" algn="just">
              <a:lnSpc>
                <a:spcPct val="200000"/>
              </a:lnSpc>
            </a:pPr>
            <a:r>
              <a:rPr lang="en-US" sz="1600" dirty="0">
                <a:latin typeface="Red Hat Display" panose="02010303040201060303" pitchFamily="2" charset="0"/>
                <a:ea typeface="Red Hat Display" panose="02010303040201060303" pitchFamily="2" charset="0"/>
                <a:cs typeface="Red Hat Display" panose="02010303040201060303" pitchFamily="2" charset="0"/>
              </a:rPr>
              <a:t>Multicast is used in applications like IPTV (Internet Protocol Television) and video conferencing where one stream of data (like a live video feed) is transmitted to multiple recipients simultaneously.</a:t>
            </a:r>
            <a:endParaRPr lang="en-IN" sz="1600"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8559068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1F0E0-B988-1ED7-D50D-91287D398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F9D37-450F-2F9F-A07F-D5A3519DD714}"/>
              </a:ext>
            </a:extLst>
          </p:cNvPr>
          <p:cNvSpPr>
            <a:spLocks noGrp="1"/>
          </p:cNvSpPr>
          <p:nvPr>
            <p:ph type="title"/>
          </p:nvPr>
        </p:nvSpPr>
        <p:spPr>
          <a:xfrm>
            <a:off x="557939" y="220091"/>
            <a:ext cx="10753189" cy="1050770"/>
          </a:xfrm>
        </p:spPr>
        <p:txBody>
          <a:bodyPr/>
          <a:lstStyle/>
          <a:p>
            <a:r>
              <a:rPr lang="en-IN" dirty="0"/>
              <a:t>Characteristics of Multicast:</a:t>
            </a:r>
          </a:p>
        </p:txBody>
      </p:sp>
      <p:sp>
        <p:nvSpPr>
          <p:cNvPr id="3" name="Content Placeholder 2">
            <a:extLst>
              <a:ext uri="{FF2B5EF4-FFF2-40B4-BE49-F238E27FC236}">
                <a16:creationId xmlns:a16="http://schemas.microsoft.com/office/drawing/2014/main" id="{0D8C670D-B4F6-A3F0-11A1-41594249F620}"/>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One-to-Many Transmission</a:t>
            </a:r>
            <a:r>
              <a:rPr lang="en-US" dirty="0">
                <a:latin typeface="Red Hat Display" panose="02010303040201060303" pitchFamily="2" charset="0"/>
                <a:ea typeface="Red Hat Display" panose="02010303040201060303" pitchFamily="2" charset="0"/>
                <a:cs typeface="Red Hat Display" panose="02010303040201060303" pitchFamily="2" charset="0"/>
              </a:rPr>
              <a:t>: Data is sent from one source to a selected group of devices.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Efficient Use of Bandwidth</a:t>
            </a:r>
            <a:r>
              <a:rPr lang="en-US" dirty="0">
                <a:latin typeface="Red Hat Display" panose="02010303040201060303" pitchFamily="2" charset="0"/>
                <a:ea typeface="Red Hat Display" panose="02010303040201060303" pitchFamily="2" charset="0"/>
                <a:cs typeface="Red Hat Display" panose="02010303040201060303" pitchFamily="2" charset="0"/>
              </a:rPr>
              <a:t>: Only one copy of the data packet is sent, with routers replicating it as necessary to reach recipients in the multicast group.</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IP Multicast Addresses</a:t>
            </a:r>
            <a:r>
              <a:rPr lang="en-US" dirty="0">
                <a:latin typeface="Red Hat Display" panose="02010303040201060303" pitchFamily="2" charset="0"/>
                <a:ea typeface="Red Hat Display" panose="02010303040201060303" pitchFamily="2" charset="0"/>
                <a:cs typeface="Red Hat Display" panose="02010303040201060303" pitchFamily="2" charset="0"/>
              </a:rPr>
              <a:t>: Special IP addresses in the range of 224.0.0.0 to 239.255.255.255 are reserved for multicast traffic in IPv4, while IPv6 uses addresses starting with FF00::/8.</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1971379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F7623-C98C-878A-633D-2A5CEA724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D306A-077D-ED5C-41BA-BBD0C835DC50}"/>
              </a:ext>
            </a:extLst>
          </p:cNvPr>
          <p:cNvSpPr>
            <a:spLocks noGrp="1"/>
          </p:cNvSpPr>
          <p:nvPr>
            <p:ph type="title"/>
          </p:nvPr>
        </p:nvSpPr>
        <p:spPr>
          <a:xfrm>
            <a:off x="557939" y="220091"/>
            <a:ext cx="10753189" cy="1050770"/>
          </a:xfrm>
        </p:spPr>
        <p:txBody>
          <a:bodyPr/>
          <a:lstStyle/>
          <a:p>
            <a:r>
              <a:rPr lang="en-IN" dirty="0"/>
              <a:t>Broadcast Communication</a:t>
            </a:r>
          </a:p>
        </p:txBody>
      </p:sp>
      <p:sp>
        <p:nvSpPr>
          <p:cNvPr id="3" name="Content Placeholder 2">
            <a:extLst>
              <a:ext uri="{FF2B5EF4-FFF2-40B4-BE49-F238E27FC236}">
                <a16:creationId xmlns:a16="http://schemas.microsoft.com/office/drawing/2014/main" id="{E4C7836D-A599-3837-E6E3-CB3DC09F4AE2}"/>
              </a:ext>
            </a:extLst>
          </p:cNvPr>
          <p:cNvSpPr>
            <a:spLocks noGrp="1"/>
          </p:cNvSpPr>
          <p:nvPr>
            <p:ph idx="1"/>
          </p:nvPr>
        </p:nvSpPr>
        <p:spPr>
          <a:xfrm>
            <a:off x="600611" y="1131376"/>
            <a:ext cx="11302087" cy="5430292"/>
          </a:xfrm>
        </p:spPr>
        <p:txBody>
          <a:bodyPr>
            <a:normAutofit/>
          </a:bodyPr>
          <a:lstStyle/>
          <a:p>
            <a:pPr algn="just">
              <a:lnSpc>
                <a:spcPct val="200000"/>
              </a:lnSpc>
            </a:pPr>
            <a:r>
              <a:rPr lang="en-US" sz="1800" dirty="0">
                <a:latin typeface="Red Hat Display" panose="02010303040201060303" pitchFamily="2" charset="0"/>
                <a:ea typeface="Red Hat Display" panose="02010303040201060303" pitchFamily="2" charset="0"/>
                <a:cs typeface="Red Hat Display" panose="02010303040201060303" pitchFamily="2" charset="0"/>
              </a:rPr>
              <a:t>Broadcast is a method of data transmission where a message is sent from one sender to all devices on a network. </a:t>
            </a:r>
          </a:p>
          <a:p>
            <a:pPr algn="just">
              <a:lnSpc>
                <a:spcPct val="200000"/>
              </a:lnSpc>
            </a:pPr>
            <a:r>
              <a:rPr lang="en-US" sz="1800" dirty="0">
                <a:latin typeface="Red Hat Display" panose="02010303040201060303" pitchFamily="2" charset="0"/>
                <a:ea typeface="Red Hat Display" panose="02010303040201060303" pitchFamily="2" charset="0"/>
                <a:cs typeface="Red Hat Display" panose="02010303040201060303" pitchFamily="2" charset="0"/>
              </a:rPr>
              <a:t>In broadcast communication, data packets reach every connected device within a specific network or broadcast domain. </a:t>
            </a:r>
          </a:p>
          <a:p>
            <a:pPr algn="just">
              <a:lnSpc>
                <a:spcPct val="200000"/>
              </a:lnSpc>
            </a:pPr>
            <a:r>
              <a:rPr lang="en-US" sz="1800" dirty="0">
                <a:latin typeface="Red Hat Display" panose="02010303040201060303" pitchFamily="2" charset="0"/>
                <a:ea typeface="Red Hat Display" panose="02010303040201060303" pitchFamily="2" charset="0"/>
                <a:cs typeface="Red Hat Display" panose="02010303040201060303" pitchFamily="2" charset="0"/>
              </a:rPr>
              <a:t>This method is useful for sharing information that all devices in the network need, such as address resolution or network discovery.</a:t>
            </a:r>
          </a:p>
          <a:p>
            <a:pPr algn="just">
              <a:lnSpc>
                <a:spcPct val="200000"/>
              </a:lnSpc>
            </a:pPr>
            <a:r>
              <a:rPr lang="en-US" sz="1800" dirty="0">
                <a:latin typeface="Red Hat Display" panose="02010303040201060303" pitchFamily="2" charset="0"/>
                <a:ea typeface="Red Hat Display" panose="02010303040201060303" pitchFamily="2" charset="0"/>
                <a:cs typeface="Red Hat Display" panose="02010303040201060303" pitchFamily="2" charset="0"/>
              </a:rPr>
              <a:t>Example of Broadcast in Networking:</a:t>
            </a:r>
          </a:p>
          <a:p>
            <a:pPr lvl="1" algn="just">
              <a:lnSpc>
                <a:spcPct val="200000"/>
              </a:lnSpc>
            </a:pPr>
            <a:r>
              <a:rPr lang="en-US" sz="1600" dirty="0">
                <a:latin typeface="Red Hat Display" panose="02010303040201060303" pitchFamily="2" charset="0"/>
                <a:ea typeface="Red Hat Display" panose="02010303040201060303" pitchFamily="2" charset="0"/>
                <a:cs typeface="Red Hat Display" panose="02010303040201060303" pitchFamily="2" charset="0"/>
              </a:rPr>
              <a:t>When a device needs to find the MAC address associated with an IP address, it sends an ARP request as a broadcast. All devices in the network receive the packet, but only the device with the matching IP address responds.</a:t>
            </a:r>
            <a:endParaRPr lang="en-IN" sz="1600"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620362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1BB79-0CF2-052F-1974-98F53B77A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925A4-CECE-8EEF-1BC9-0795CF9A9F08}"/>
              </a:ext>
            </a:extLst>
          </p:cNvPr>
          <p:cNvSpPr>
            <a:spLocks noGrp="1"/>
          </p:cNvSpPr>
          <p:nvPr>
            <p:ph type="title"/>
          </p:nvPr>
        </p:nvSpPr>
        <p:spPr>
          <a:xfrm>
            <a:off x="557939" y="220091"/>
            <a:ext cx="10753189" cy="1050770"/>
          </a:xfrm>
        </p:spPr>
        <p:txBody>
          <a:bodyPr>
            <a:normAutofit fontScale="90000"/>
          </a:bodyPr>
          <a:lstStyle/>
          <a:p>
            <a:r>
              <a:rPr lang="en-US" dirty="0"/>
              <a:t>Summary of Unicast, Multicast, and Broadcast</a:t>
            </a:r>
            <a:endParaRPr lang="en-IN" dirty="0"/>
          </a:p>
        </p:txBody>
      </p:sp>
      <p:sp>
        <p:nvSpPr>
          <p:cNvPr id="3" name="Content Placeholder 2">
            <a:extLst>
              <a:ext uri="{FF2B5EF4-FFF2-40B4-BE49-F238E27FC236}">
                <a16:creationId xmlns:a16="http://schemas.microsoft.com/office/drawing/2014/main" id="{D9818AAC-3BC6-7217-5BB9-B5A0552B23F1}"/>
              </a:ext>
            </a:extLst>
          </p:cNvPr>
          <p:cNvSpPr>
            <a:spLocks noGrp="1"/>
          </p:cNvSpPr>
          <p:nvPr>
            <p:ph idx="1"/>
          </p:nvPr>
        </p:nvSpPr>
        <p:spPr>
          <a:xfrm>
            <a:off x="557938" y="3429000"/>
            <a:ext cx="10753189" cy="3055177"/>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Each data transmission method serves unique purposes:</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Unicast</a:t>
            </a:r>
            <a:r>
              <a:rPr lang="en-US" dirty="0">
                <a:latin typeface="Red Hat Display" panose="02010303040201060303" pitchFamily="2" charset="0"/>
                <a:ea typeface="Red Hat Display" panose="02010303040201060303" pitchFamily="2" charset="0"/>
                <a:cs typeface="Red Hat Display" panose="02010303040201060303" pitchFamily="2" charset="0"/>
              </a:rPr>
              <a:t> for secure and direct communications.</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Multicast</a:t>
            </a:r>
            <a:r>
              <a:rPr lang="en-US" dirty="0">
                <a:latin typeface="Red Hat Display" panose="02010303040201060303" pitchFamily="2" charset="0"/>
                <a:ea typeface="Red Hat Display" panose="02010303040201060303" pitchFamily="2" charset="0"/>
                <a:cs typeface="Red Hat Display" panose="02010303040201060303" pitchFamily="2" charset="0"/>
              </a:rPr>
              <a:t> for efficient data delivery to a group.</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Broadcast</a:t>
            </a:r>
            <a:r>
              <a:rPr lang="en-US" dirty="0">
                <a:latin typeface="Red Hat Display" panose="02010303040201060303" pitchFamily="2" charset="0"/>
                <a:ea typeface="Red Hat Display" panose="02010303040201060303" pitchFamily="2" charset="0"/>
                <a:cs typeface="Red Hat Display" panose="02010303040201060303" pitchFamily="2" charset="0"/>
              </a:rPr>
              <a:t> for network-wide communication, often for discovery purposes.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pic>
        <p:nvPicPr>
          <p:cNvPr id="7" name="Picture 6">
            <a:extLst>
              <a:ext uri="{FF2B5EF4-FFF2-40B4-BE49-F238E27FC236}">
                <a16:creationId xmlns:a16="http://schemas.microsoft.com/office/drawing/2014/main" id="{65BD42D1-5FB8-2F9D-F59C-86103E45EDD0}"/>
              </a:ext>
            </a:extLst>
          </p:cNvPr>
          <p:cNvPicPr>
            <a:picLocks noChangeAspect="1"/>
          </p:cNvPicPr>
          <p:nvPr/>
        </p:nvPicPr>
        <p:blipFill>
          <a:blip r:embed="rId2"/>
          <a:stretch>
            <a:fillRect/>
          </a:stretch>
        </p:blipFill>
        <p:spPr>
          <a:xfrm>
            <a:off x="680744" y="1371278"/>
            <a:ext cx="10592921" cy="2057722"/>
          </a:xfrm>
          <a:prstGeom prst="rect">
            <a:avLst/>
          </a:prstGeom>
        </p:spPr>
      </p:pic>
    </p:spTree>
    <p:extLst>
      <p:ext uri="{BB962C8B-B14F-4D97-AF65-F5344CB8AC3E}">
        <p14:creationId xmlns:p14="http://schemas.microsoft.com/office/powerpoint/2010/main" val="38984588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normAutofit fontScale="90000"/>
          </a:bodyPr>
          <a:lstStyle/>
          <a:p>
            <a:r>
              <a:rPr lang="en-US" dirty="0"/>
              <a:t>Reserved and Special IP Address Ranges (IPv4)</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Private IP Ranges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A: 10.0.0.0 to 10.255.255.255</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B: 172.16.0.0 to 172.31.255.255</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C: 192.168.0.0 to 192.168.255.255</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Loopback Addresses (127.0.0.0 to 127.255.255.255) </a:t>
            </a:r>
            <a:r>
              <a:rPr lang="en-US" dirty="0">
                <a:latin typeface="Red Hat Display" panose="02010303040201060303" pitchFamily="2" charset="0"/>
                <a:ea typeface="Red Hat Display" panose="02010303040201060303" pitchFamily="2" charset="0"/>
                <a:cs typeface="Red Hat Display" panose="02010303040201060303" pitchFamily="2" charset="0"/>
              </a:rPr>
              <a:t>The loopback range is used for testing network interfaces on a local machine. 127.0.0.1 is commonly known as the "localhost" address, used to refer to the device itself.</a:t>
            </a:r>
          </a:p>
        </p:txBody>
      </p:sp>
    </p:spTree>
    <p:extLst>
      <p:ext uri="{BB962C8B-B14F-4D97-AF65-F5344CB8AC3E}">
        <p14:creationId xmlns:p14="http://schemas.microsoft.com/office/powerpoint/2010/main" val="41564046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7F202-526F-BEE9-4C50-E64946070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2426B-3BF2-C200-E38A-F2124763150E}"/>
              </a:ext>
            </a:extLst>
          </p:cNvPr>
          <p:cNvSpPr>
            <a:spLocks noGrp="1"/>
          </p:cNvSpPr>
          <p:nvPr>
            <p:ph type="title"/>
          </p:nvPr>
        </p:nvSpPr>
        <p:spPr>
          <a:xfrm>
            <a:off x="557939" y="220091"/>
            <a:ext cx="10753189" cy="1050770"/>
          </a:xfrm>
        </p:spPr>
        <p:txBody>
          <a:bodyPr>
            <a:normAutofit fontScale="90000"/>
          </a:bodyPr>
          <a:lstStyle/>
          <a:p>
            <a:r>
              <a:rPr lang="en-US" dirty="0"/>
              <a:t>Reserved and Special IP Address Ranges (IPv4)</a:t>
            </a:r>
            <a:endParaRPr lang="en-IN" dirty="0"/>
          </a:p>
        </p:txBody>
      </p:sp>
      <p:sp>
        <p:nvSpPr>
          <p:cNvPr id="3" name="Content Placeholder 2">
            <a:extLst>
              <a:ext uri="{FF2B5EF4-FFF2-40B4-BE49-F238E27FC236}">
                <a16:creationId xmlns:a16="http://schemas.microsoft.com/office/drawing/2014/main" id="{70A069B5-5AF2-0F1F-BD57-5049E1A7FF5C}"/>
              </a:ext>
            </a:extLst>
          </p:cNvPr>
          <p:cNvSpPr>
            <a:spLocks noGrp="1"/>
          </p:cNvSpPr>
          <p:nvPr>
            <p:ph idx="1"/>
          </p:nvPr>
        </p:nvSpPr>
        <p:spPr>
          <a:xfrm>
            <a:off x="600611" y="1472340"/>
            <a:ext cx="10753189" cy="5089328"/>
          </a:xfrm>
        </p:spPr>
        <p:txBody>
          <a:bodyPr>
            <a:normAutofit lnSpcReduction="10000"/>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Link-Local Addresses (169.254.0.0 to 169.254.255.255) </a:t>
            </a:r>
            <a:r>
              <a:rPr lang="en-US" dirty="0">
                <a:latin typeface="Red Hat Display" panose="02010303040201060303" pitchFamily="2" charset="0"/>
                <a:ea typeface="Red Hat Display" panose="02010303040201060303" pitchFamily="2" charset="0"/>
                <a:cs typeface="Red Hat Display" panose="02010303040201060303" pitchFamily="2" charset="0"/>
              </a:rPr>
              <a:t>These addresses are automatically assigned when a device cannot obtain an IP from a DHCP server. Link-local addresses enable basic, limited communication within a local network.</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Multicast Addresses (224.0.0.0 to 239.255.255.255) </a:t>
            </a:r>
            <a:r>
              <a:rPr lang="en-US" dirty="0">
                <a:latin typeface="Red Hat Display" panose="02010303040201060303" pitchFamily="2" charset="0"/>
                <a:ea typeface="Red Hat Display" panose="02010303040201060303" pitchFamily="2" charset="0"/>
                <a:cs typeface="Red Hat Display" panose="02010303040201060303" pitchFamily="2" charset="0"/>
              </a:rPr>
              <a:t>Reserved for multicast groups, these addresses allow data to be sent to multiple recipients simultaneously.</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Broadcast Address (255.255.255.255) </a:t>
            </a:r>
            <a:r>
              <a:rPr lang="en-US" dirty="0">
                <a:latin typeface="Red Hat Display" panose="02010303040201060303" pitchFamily="2" charset="0"/>
                <a:ea typeface="Red Hat Display" panose="02010303040201060303" pitchFamily="2" charset="0"/>
                <a:cs typeface="Red Hat Display" panose="02010303040201060303" pitchFamily="2" charset="0"/>
              </a:rPr>
              <a:t>The broadcast address is used to send data to all devices on a network. For example, sending a packet to 255.255.255.255 reaches all devices within the network.</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59782558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normAutofit fontScale="90000"/>
          </a:bodyPr>
          <a:lstStyle/>
          <a:p>
            <a:r>
              <a:rPr lang="en-US" dirty="0"/>
              <a:t>Reserved and Special IP Address Ranges (IPv6)</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IPv6 also reserves certain address ranges for specific purposes:</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Link-Local Addresses (fe80::/10) </a:t>
            </a:r>
            <a:r>
              <a:rPr lang="en-US" dirty="0">
                <a:latin typeface="Red Hat Display" panose="02010303040201060303" pitchFamily="2" charset="0"/>
                <a:ea typeface="Red Hat Display" panose="02010303040201060303" pitchFamily="2" charset="0"/>
                <a:cs typeface="Red Hat Display" panose="02010303040201060303" pitchFamily="2" charset="0"/>
              </a:rPr>
              <a:t>Similar to IPv4 link-local addresses, IPv6 link-local addresses allow devices to communicate on the same local link without requiring a globally routable IP.</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Multicast Addresses (ff00::/8) </a:t>
            </a:r>
            <a:r>
              <a:rPr lang="en-US" dirty="0">
                <a:latin typeface="Red Hat Display" panose="02010303040201060303" pitchFamily="2" charset="0"/>
                <a:ea typeface="Red Hat Display" panose="02010303040201060303" pitchFamily="2" charset="0"/>
                <a:cs typeface="Red Hat Display" panose="02010303040201060303" pitchFamily="2" charset="0"/>
              </a:rPr>
              <a:t>Multicast addresses in IPv6 are used for one-to-many communication, similar to IPv4’s multicast function.</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Loopback Address (::1) IPv6’s </a:t>
            </a:r>
            <a:r>
              <a:rPr lang="en-US" dirty="0">
                <a:latin typeface="Red Hat Display" panose="02010303040201060303" pitchFamily="2" charset="0"/>
                <a:ea typeface="Red Hat Display" panose="02010303040201060303" pitchFamily="2" charset="0"/>
                <a:cs typeface="Red Hat Display" panose="02010303040201060303" pitchFamily="2" charset="0"/>
              </a:rPr>
              <a:t>loopback address, ::1, functions like IPv4’s 127.0.0.1, allowing a device to test its own networking configuration.</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4272477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CIDR (Classless Inter-Domain Routing)</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CIDR is a method for more flexible IP address allocation and efficient routing.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came as a replacement for the </a:t>
            </a:r>
            <a:r>
              <a:rPr lang="en-US" i="1" dirty="0">
                <a:latin typeface="Red Hat Display" panose="02010303040201060303" pitchFamily="2" charset="0"/>
                <a:ea typeface="Red Hat Display" panose="02010303040201060303" pitchFamily="2" charset="0"/>
                <a:cs typeface="Red Hat Display" panose="02010303040201060303" pitchFamily="2" charset="0"/>
              </a:rPr>
              <a:t>class-based IP addressing system </a:t>
            </a:r>
            <a:r>
              <a:rPr lang="en-US" dirty="0">
                <a:latin typeface="Red Hat Display" panose="02010303040201060303" pitchFamily="2" charset="0"/>
                <a:ea typeface="Red Hat Display" panose="02010303040201060303" pitchFamily="2" charset="0"/>
                <a:cs typeface="Red Hat Display" panose="02010303040201060303" pitchFamily="2" charset="0"/>
              </a:rPr>
              <a:t>(Classes A, B, C).</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CIDR allows for subnetting and aggregation of IP addresses, making it crucial for efficient network management and mitigating IPv4 address exhaustion.</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CIDR addresses use variable-length subnet masking (VLSM), which allows network administrators to define IP addresses with varying subnet sizes, ensuring that IP addresses are allocated according to an organization’s specific needs.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7921906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The Structure of CIDR Notation</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CIDR notation consists of an IP address followed by a slash (/) and a number that specifies the length of the network prefix.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For example:</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192.168.1.0/24 </a:t>
            </a:r>
            <a:r>
              <a:rPr lang="en-US" dirty="0">
                <a:latin typeface="Red Hat Display" panose="02010303040201060303" pitchFamily="2" charset="0"/>
                <a:ea typeface="Red Hat Display" panose="02010303040201060303" pitchFamily="2" charset="0"/>
                <a:cs typeface="Red Hat Display" panose="02010303040201060303" pitchFamily="2" charset="0"/>
              </a:rPr>
              <a:t>means that the first 24 bits of the IP address are the network portion, and the remaining bits are available for host addresses.</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10.0.0.0/8 </a:t>
            </a:r>
            <a:r>
              <a:rPr lang="en-US" dirty="0">
                <a:latin typeface="Red Hat Display" panose="02010303040201060303" pitchFamily="2" charset="0"/>
                <a:ea typeface="Red Hat Display" panose="02010303040201060303" pitchFamily="2" charset="0"/>
                <a:cs typeface="Red Hat Display" panose="02010303040201060303" pitchFamily="2" charset="0"/>
              </a:rPr>
              <a:t>indicates that the first 8 bits are used for the network, allowing for a large range of host addresses within that network.</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0164640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Benefits of CIDR</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fontScale="92500" lnSpcReduction="10000"/>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Efficient Use of IP Addresses</a:t>
            </a:r>
            <a:r>
              <a:rPr lang="en-US" dirty="0">
                <a:latin typeface="Red Hat Display" panose="02010303040201060303" pitchFamily="2" charset="0"/>
                <a:ea typeface="Red Hat Display" panose="02010303040201060303" pitchFamily="2" charset="0"/>
                <a:cs typeface="Red Hat Display" panose="02010303040201060303" pitchFamily="2" charset="0"/>
              </a:rPr>
              <a:t>: CIDR allows for custom subnet sizes, ensuring that IP addresses are assigned based on need.</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Reduced Routing Complexity</a:t>
            </a:r>
            <a:r>
              <a:rPr lang="en-US" dirty="0">
                <a:latin typeface="Red Hat Display" panose="02010303040201060303" pitchFamily="2" charset="0"/>
                <a:ea typeface="Red Hat Display" panose="02010303040201060303" pitchFamily="2" charset="0"/>
                <a:cs typeface="Red Hat Display" panose="02010303040201060303" pitchFamily="2" charset="0"/>
              </a:rPr>
              <a:t>: Aggregating IP addresses into supernets minimizes routing table entries, improving routing efficiency.</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Flexibility in Network Design</a:t>
            </a:r>
            <a:r>
              <a:rPr lang="en-US" dirty="0">
                <a:latin typeface="Red Hat Display" panose="02010303040201060303" pitchFamily="2" charset="0"/>
                <a:ea typeface="Red Hat Display" panose="02010303040201060303" pitchFamily="2" charset="0"/>
                <a:cs typeface="Red Hat Display" panose="02010303040201060303" pitchFamily="2" charset="0"/>
              </a:rPr>
              <a:t>: Networks can be structured to match organizational requirements without the constraints of traditional IP classes.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Support for IPv6</a:t>
            </a:r>
            <a:r>
              <a:rPr lang="en-US" dirty="0">
                <a:latin typeface="Red Hat Display" panose="02010303040201060303" pitchFamily="2" charset="0"/>
                <a:ea typeface="Red Hat Display" panose="02010303040201060303" pitchFamily="2" charset="0"/>
                <a:cs typeface="Red Hat Display" panose="02010303040201060303" pitchFamily="2" charset="0"/>
              </a:rPr>
              <a:t>: CIDR seamlessly integrates with IPv6, providing a robust method for handling extensive address spaces.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729422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normAutofit fontScale="90000"/>
          </a:bodyPr>
          <a:lstStyle/>
          <a:p>
            <a:r>
              <a:rPr lang="en-US" dirty="0"/>
              <a:t>Common CIDR Notations and Their Subnet Sizes</a:t>
            </a:r>
            <a:endParaRPr lang="en-IN" dirty="0"/>
          </a:p>
        </p:txBody>
      </p:sp>
      <p:pic>
        <p:nvPicPr>
          <p:cNvPr id="5" name="Picture 4">
            <a:extLst>
              <a:ext uri="{FF2B5EF4-FFF2-40B4-BE49-F238E27FC236}">
                <a16:creationId xmlns:a16="http://schemas.microsoft.com/office/drawing/2014/main" id="{B9A0B584-0897-34AA-92D4-A5004B13709D}"/>
              </a:ext>
            </a:extLst>
          </p:cNvPr>
          <p:cNvPicPr>
            <a:picLocks noChangeAspect="1"/>
          </p:cNvPicPr>
          <p:nvPr/>
        </p:nvPicPr>
        <p:blipFill>
          <a:blip r:embed="rId2"/>
          <a:stretch>
            <a:fillRect/>
          </a:stretch>
        </p:blipFill>
        <p:spPr>
          <a:xfrm>
            <a:off x="323933" y="1808350"/>
            <a:ext cx="11544133" cy="3241299"/>
          </a:xfrm>
          <a:prstGeom prst="rect">
            <a:avLst/>
          </a:prstGeom>
        </p:spPr>
      </p:pic>
    </p:spTree>
    <p:extLst>
      <p:ext uri="{BB962C8B-B14F-4D97-AF65-F5344CB8AC3E}">
        <p14:creationId xmlns:p14="http://schemas.microsoft.com/office/powerpoint/2010/main" val="30048685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E191B-7795-8A77-A256-6892971D1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AF7B0-4D4B-D2F5-863B-908441D7BBB5}"/>
              </a:ext>
            </a:extLst>
          </p:cNvPr>
          <p:cNvSpPr>
            <a:spLocks noGrp="1"/>
          </p:cNvSpPr>
          <p:nvPr>
            <p:ph type="title"/>
          </p:nvPr>
        </p:nvSpPr>
        <p:spPr>
          <a:xfrm>
            <a:off x="557939" y="220091"/>
            <a:ext cx="10753189" cy="1050770"/>
          </a:xfrm>
        </p:spPr>
        <p:txBody>
          <a:bodyPr/>
          <a:lstStyle/>
          <a:p>
            <a:r>
              <a:rPr lang="en-IN" dirty="0"/>
              <a:t>Network Address</a:t>
            </a:r>
          </a:p>
        </p:txBody>
      </p:sp>
      <p:sp>
        <p:nvSpPr>
          <p:cNvPr id="3" name="Content Placeholder 2">
            <a:extLst>
              <a:ext uri="{FF2B5EF4-FFF2-40B4-BE49-F238E27FC236}">
                <a16:creationId xmlns:a16="http://schemas.microsoft.com/office/drawing/2014/main" id="{ABD7A4DE-3EEF-7590-6CFC-369FFFFECD54}"/>
              </a:ext>
            </a:extLst>
          </p:cNvPr>
          <p:cNvSpPr>
            <a:spLocks noGrp="1"/>
          </p:cNvSpPr>
          <p:nvPr>
            <p:ph idx="1"/>
          </p:nvPr>
        </p:nvSpPr>
        <p:spPr>
          <a:xfrm>
            <a:off x="557939" y="1270861"/>
            <a:ext cx="11302087" cy="5385660"/>
          </a:xfrm>
        </p:spPr>
        <p:txBody>
          <a:bodyPr>
            <a:normAutofit fontScale="92500" lnSpcReduction="2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network address identifies a specific network or subnet within a larger network.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It is the first IP address in any subnet and represents the network itself, not any individual device.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network address is often used by routers and other devices to recognize the starting point of a subnet, allowing them to route data correctly.</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Key Points about Network Address:</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Indicates Network/Subnet</a:t>
            </a:r>
            <a:r>
              <a:rPr lang="en-US" dirty="0">
                <a:latin typeface="Red Hat Display" panose="02010303040201060303" pitchFamily="2" charset="0"/>
                <a:ea typeface="Red Hat Display" panose="02010303040201060303" pitchFamily="2" charset="0"/>
                <a:cs typeface="Red Hat Display" panose="02010303040201060303" pitchFamily="2" charset="0"/>
              </a:rPr>
              <a:t>: It identifies the network, not any host within it.</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Cannot Be Assigned to Devices</a:t>
            </a:r>
            <a:r>
              <a:rPr lang="en-US" dirty="0">
                <a:latin typeface="Red Hat Display" panose="02010303040201060303" pitchFamily="2" charset="0"/>
                <a:ea typeface="Red Hat Display" panose="02010303040201060303" pitchFamily="2" charset="0"/>
                <a:cs typeface="Red Hat Display" panose="02010303040201060303" pitchFamily="2" charset="0"/>
              </a:rPr>
              <a:t>: The network address is reserved and not assigned to devices as it represents the subnet.</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Calculation</a:t>
            </a:r>
            <a:r>
              <a:rPr lang="en-US" dirty="0">
                <a:latin typeface="Red Hat Display" panose="02010303040201060303" pitchFamily="2" charset="0"/>
                <a:ea typeface="Red Hat Display" panose="02010303040201060303" pitchFamily="2" charset="0"/>
                <a:cs typeface="Red Hat Display" panose="02010303040201060303" pitchFamily="2" charset="0"/>
              </a:rPr>
              <a:t>: In binary, the host portion of a network address is all 0s.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8331627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A8842-908D-BC99-B276-CF2A437DD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CE788-B12C-ED70-D7ED-5B859D82CD8B}"/>
              </a:ext>
            </a:extLst>
          </p:cNvPr>
          <p:cNvSpPr>
            <a:spLocks noGrp="1"/>
          </p:cNvSpPr>
          <p:nvPr>
            <p:ph type="title"/>
          </p:nvPr>
        </p:nvSpPr>
        <p:spPr>
          <a:xfrm>
            <a:off x="557939" y="220091"/>
            <a:ext cx="10753189" cy="1050770"/>
          </a:xfrm>
        </p:spPr>
        <p:txBody>
          <a:bodyPr>
            <a:normAutofit fontScale="90000"/>
          </a:bodyPr>
          <a:lstStyle/>
          <a:p>
            <a:r>
              <a:rPr lang="en-US" dirty="0"/>
              <a:t>Example of Network Address Calculation:</a:t>
            </a:r>
            <a:endParaRPr lang="en-IN" dirty="0"/>
          </a:p>
        </p:txBody>
      </p:sp>
      <p:sp>
        <p:nvSpPr>
          <p:cNvPr id="3" name="Content Placeholder 2">
            <a:extLst>
              <a:ext uri="{FF2B5EF4-FFF2-40B4-BE49-F238E27FC236}">
                <a16:creationId xmlns:a16="http://schemas.microsoft.com/office/drawing/2014/main" id="{32A5C701-113B-AE88-4456-C5E71B159324}"/>
              </a:ext>
            </a:extLst>
          </p:cNvPr>
          <p:cNvSpPr>
            <a:spLocks noGrp="1"/>
          </p:cNvSpPr>
          <p:nvPr>
            <p:ph idx="1"/>
          </p:nvPr>
        </p:nvSpPr>
        <p:spPr>
          <a:xfrm>
            <a:off x="600611" y="1472340"/>
            <a:ext cx="10753189" cy="5089328"/>
          </a:xfrm>
        </p:spPr>
        <p:txBody>
          <a:bodyPr>
            <a:normAutofit/>
          </a:bodyPr>
          <a:lstStyle/>
          <a:p>
            <a:pPr marL="0" indent="0" algn="just">
              <a:lnSpc>
                <a:spcPct val="200000"/>
              </a:lnSpc>
              <a:buNone/>
            </a:pPr>
            <a:r>
              <a:rPr lang="en-US" dirty="0">
                <a:latin typeface="Red Hat Display" panose="02010303040201060303" pitchFamily="2" charset="0"/>
                <a:ea typeface="Red Hat Display" panose="02010303040201060303" pitchFamily="2" charset="0"/>
                <a:cs typeface="Red Hat Display" panose="02010303040201060303" pitchFamily="2" charset="0"/>
              </a:rPr>
              <a:t>For the IP address 192.168.1.0/24:</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Convert to Binary</a:t>
            </a:r>
            <a:r>
              <a:rPr lang="en-US" dirty="0">
                <a:latin typeface="Red Hat Display" panose="02010303040201060303" pitchFamily="2" charset="0"/>
                <a:ea typeface="Red Hat Display" panose="02010303040201060303" pitchFamily="2" charset="0"/>
                <a:cs typeface="Red Hat Display" panose="02010303040201060303" pitchFamily="2" charset="0"/>
              </a:rPr>
              <a:t>: 192.168.1.0 in binary is 11000000.10101000.00000001.00000000.</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Subnet Mask in /24 Notation</a:t>
            </a:r>
            <a:r>
              <a:rPr lang="en-US" dirty="0">
                <a:latin typeface="Red Hat Display" panose="02010303040201060303" pitchFamily="2" charset="0"/>
                <a:ea typeface="Red Hat Display" panose="02010303040201060303" pitchFamily="2" charset="0"/>
                <a:cs typeface="Red Hat Display" panose="02010303040201060303" pitchFamily="2" charset="0"/>
              </a:rPr>
              <a:t>: 255.255.255.0, which translates to 11111111.11111111.11111111.00000000.</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Resulting Network Address</a:t>
            </a:r>
            <a:r>
              <a:rPr lang="en-US" dirty="0">
                <a:latin typeface="Red Hat Display" panose="02010303040201060303" pitchFamily="2" charset="0"/>
                <a:ea typeface="Red Hat Display" panose="02010303040201060303" pitchFamily="2" charset="0"/>
                <a:cs typeface="Red Hat Display" panose="02010303040201060303" pitchFamily="2" charset="0"/>
              </a:rPr>
              <a:t>: The network address is 192.168.1.0, and it represents the entire network of all devices connected to it.</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23627344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Broadcast Address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1255592" cy="5290807"/>
          </a:xfrm>
        </p:spPr>
        <p:txBody>
          <a:bodyPr>
            <a:normAutofit fontScale="85000" lnSpcReduction="1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broadcast address is the last IP address in a subnet and is used to send data to all devices within that subnet.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Any message sent to the broadcast address reaches every device in the subnet, making it useful for network-wide communications, such as ARP (Address Resolution Protocol) and DHCP (Dynamic Host Configuration Protocol) requests.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Key Points about Broadcast Address:</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One per Subnet</a:t>
            </a:r>
            <a:r>
              <a:rPr lang="en-US" dirty="0">
                <a:latin typeface="Red Hat Display" panose="02010303040201060303" pitchFamily="2" charset="0"/>
                <a:ea typeface="Red Hat Display" panose="02010303040201060303" pitchFamily="2" charset="0"/>
                <a:cs typeface="Red Hat Display" panose="02010303040201060303" pitchFamily="2" charset="0"/>
              </a:rPr>
              <a:t>: The broadcast address is unique to each subnet.</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Reserved for Network-Wide Communications</a:t>
            </a:r>
            <a:r>
              <a:rPr lang="en-US" dirty="0">
                <a:latin typeface="Red Hat Display" panose="02010303040201060303" pitchFamily="2" charset="0"/>
                <a:ea typeface="Red Hat Display" panose="02010303040201060303" pitchFamily="2" charset="0"/>
                <a:cs typeface="Red Hat Display" panose="02010303040201060303" pitchFamily="2" charset="0"/>
              </a:rPr>
              <a:t>: Devices should not be assigned this address, as it is for broadcasting to all devices in the subnet.</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Calculation</a:t>
            </a:r>
            <a:r>
              <a:rPr lang="en-US" dirty="0">
                <a:latin typeface="Red Hat Display" panose="02010303040201060303" pitchFamily="2" charset="0"/>
                <a:ea typeface="Red Hat Display" panose="02010303040201060303" pitchFamily="2" charset="0"/>
                <a:cs typeface="Red Hat Display" panose="02010303040201060303" pitchFamily="2" charset="0"/>
              </a:rPr>
              <a:t>: In binary, the host portion of the broadcast address is all 1s.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63373921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normAutofit fontScale="90000"/>
          </a:bodyPr>
          <a:lstStyle/>
          <a:p>
            <a:r>
              <a:rPr lang="en-US" dirty="0"/>
              <a:t>Example of Broadcast Address Calculation:</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marL="0" indent="0" algn="just">
              <a:lnSpc>
                <a:spcPct val="200000"/>
              </a:lnSpc>
              <a:buNone/>
            </a:pPr>
            <a:r>
              <a:rPr lang="en-US" dirty="0">
                <a:latin typeface="Red Hat Display" panose="02010303040201060303" pitchFamily="2" charset="0"/>
                <a:ea typeface="Red Hat Display" panose="02010303040201060303" pitchFamily="2" charset="0"/>
                <a:cs typeface="Red Hat Display" panose="02010303040201060303" pitchFamily="2" charset="0"/>
              </a:rPr>
              <a:t>Using the same network 192.168.1.0/24:</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Convert to Binary</a:t>
            </a:r>
            <a:r>
              <a:rPr lang="en-US" dirty="0">
                <a:latin typeface="Red Hat Display" panose="02010303040201060303" pitchFamily="2" charset="0"/>
                <a:ea typeface="Red Hat Display" panose="02010303040201060303" pitchFamily="2" charset="0"/>
                <a:cs typeface="Red Hat Display" panose="02010303040201060303" pitchFamily="2" charset="0"/>
              </a:rPr>
              <a:t>: 192.168.1.0 is 11000000.10101000.00000001.00000000.</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Host Portion as 1s</a:t>
            </a:r>
            <a:r>
              <a:rPr lang="en-US" dirty="0">
                <a:latin typeface="Red Hat Display" panose="02010303040201060303" pitchFamily="2" charset="0"/>
                <a:ea typeface="Red Hat Display" panose="02010303040201060303" pitchFamily="2" charset="0"/>
                <a:cs typeface="Red Hat Display" panose="02010303040201060303" pitchFamily="2" charset="0"/>
              </a:rPr>
              <a:t>: Changing the last 8 bits to 1s gives 11000000.10101000.00000001.11111111.</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Broadcast Address</a:t>
            </a:r>
            <a:r>
              <a:rPr lang="en-US" dirty="0">
                <a:latin typeface="Red Hat Display" panose="02010303040201060303" pitchFamily="2" charset="0"/>
                <a:ea typeface="Red Hat Display" panose="02010303040201060303" pitchFamily="2" charset="0"/>
                <a:cs typeface="Red Hat Display" panose="02010303040201060303" pitchFamily="2" charset="0"/>
              </a:rPr>
              <a:t>: Converting back to decimal, the broadcast address is 192.168.1.255.</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0789159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IN" dirty="0"/>
              <a:t>Valid Host Addresses</a:t>
            </a:r>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270861"/>
            <a:ext cx="11033450" cy="5290807"/>
          </a:xfrm>
        </p:spPr>
        <p:txBody>
          <a:bodyPr>
            <a:normAutofit fontScale="92500" lnSpcReduction="1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Valid host addresses are the IP addresses that can be assigned to devices within a subnet.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These addresses fall between the network and broadcast addresses and can be allocated to individual hosts, such as computers, printers, and other devices.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Key Points about Valid Host Addresses:</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Range Between Network and Broadcast Addresses</a:t>
            </a:r>
            <a:r>
              <a:rPr lang="en-US" dirty="0">
                <a:latin typeface="Red Hat Display" panose="02010303040201060303" pitchFamily="2" charset="0"/>
                <a:ea typeface="Red Hat Display" panose="02010303040201060303" pitchFamily="2" charset="0"/>
                <a:cs typeface="Red Hat Display" panose="02010303040201060303" pitchFamily="2" charset="0"/>
              </a:rPr>
              <a:t>: Valid host IP addresses are those between the network and broadcast addresses.</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Assignable to Devices</a:t>
            </a:r>
            <a:r>
              <a:rPr lang="en-US" dirty="0">
                <a:latin typeface="Red Hat Display" panose="02010303040201060303" pitchFamily="2" charset="0"/>
                <a:ea typeface="Red Hat Display" panose="02010303040201060303" pitchFamily="2" charset="0"/>
                <a:cs typeface="Red Hat Display" panose="02010303040201060303" pitchFamily="2" charset="0"/>
              </a:rPr>
              <a:t>: Any address between the network and broadcast address is assignable.</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Number of Hosts Calculation</a:t>
            </a:r>
            <a:r>
              <a:rPr lang="en-US" dirty="0">
                <a:latin typeface="Red Hat Display" panose="02010303040201060303" pitchFamily="2" charset="0"/>
                <a:ea typeface="Red Hat Display" panose="02010303040201060303" pitchFamily="2" charset="0"/>
                <a:cs typeface="Red Hat Display" panose="02010303040201060303" pitchFamily="2" charset="0"/>
              </a:rPr>
              <a:t>: The number of valid hosts in a subnet is determined by the subnet mask, calculated as 2^N - 2, where N is the number of host bits.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4234578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4A40E-EA12-6F6C-1BFA-9F4B18470BED}"/>
              </a:ext>
            </a:extLst>
          </p:cNvPr>
          <p:cNvSpPr>
            <a:spLocks noGrp="1"/>
          </p:cNvSpPr>
          <p:nvPr>
            <p:ph type="title"/>
          </p:nvPr>
        </p:nvSpPr>
        <p:spPr>
          <a:xfrm>
            <a:off x="557939" y="220091"/>
            <a:ext cx="10753189" cy="1050770"/>
          </a:xfrm>
        </p:spPr>
        <p:txBody>
          <a:bodyPr/>
          <a:lstStyle/>
          <a:p>
            <a:r>
              <a:rPr lang="en-US" dirty="0"/>
              <a:t>Example of Valid Host Address Range:</a:t>
            </a:r>
            <a:endParaRPr lang="en-IN" dirty="0"/>
          </a:p>
        </p:txBody>
      </p:sp>
      <p:sp>
        <p:nvSpPr>
          <p:cNvPr id="3" name="Content Placeholder 2">
            <a:extLst>
              <a:ext uri="{FF2B5EF4-FFF2-40B4-BE49-F238E27FC236}">
                <a16:creationId xmlns:a16="http://schemas.microsoft.com/office/drawing/2014/main" id="{3869EC0B-2FBD-D2A6-E057-04E54F8B5516}"/>
              </a:ext>
            </a:extLst>
          </p:cNvPr>
          <p:cNvSpPr>
            <a:spLocks noGrp="1"/>
          </p:cNvSpPr>
          <p:nvPr>
            <p:ph idx="1"/>
          </p:nvPr>
        </p:nvSpPr>
        <p:spPr>
          <a:xfrm>
            <a:off x="600611" y="1472340"/>
            <a:ext cx="10753189" cy="5089328"/>
          </a:xfrm>
        </p:spPr>
        <p:txBody>
          <a:bodyPr>
            <a:normAutofit/>
          </a:bodyPr>
          <a:lstStyle/>
          <a:p>
            <a:pPr marL="0" indent="0" algn="just">
              <a:lnSpc>
                <a:spcPct val="200000"/>
              </a:lnSpc>
              <a:buNone/>
            </a:pPr>
            <a:r>
              <a:rPr lang="en-US" dirty="0">
                <a:latin typeface="Red Hat Display" panose="02010303040201060303" pitchFamily="2" charset="0"/>
                <a:ea typeface="Red Hat Display" panose="02010303040201060303" pitchFamily="2" charset="0"/>
                <a:cs typeface="Red Hat Display" panose="02010303040201060303" pitchFamily="2" charset="0"/>
              </a:rPr>
              <a:t>Using 192.168.1.0/24:</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Subnet Range</a:t>
            </a:r>
            <a:r>
              <a:rPr lang="en-US" dirty="0">
                <a:latin typeface="Red Hat Display" panose="02010303040201060303" pitchFamily="2" charset="0"/>
                <a:ea typeface="Red Hat Display" panose="02010303040201060303" pitchFamily="2" charset="0"/>
                <a:cs typeface="Red Hat Display" panose="02010303040201060303" pitchFamily="2" charset="0"/>
              </a:rPr>
              <a:t>: 192.168.1.0 to 192.168.1.255.</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Valid Hosts</a:t>
            </a:r>
            <a:r>
              <a:rPr lang="en-US" dirty="0">
                <a:latin typeface="Red Hat Display" panose="02010303040201060303" pitchFamily="2" charset="0"/>
                <a:ea typeface="Red Hat Display" panose="02010303040201060303" pitchFamily="2" charset="0"/>
                <a:cs typeface="Red Hat Display" panose="02010303040201060303" pitchFamily="2" charset="0"/>
              </a:rPr>
              <a:t>: From 192.168.1.1 to 192.168.1.254.</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Host Count</a:t>
            </a:r>
            <a:r>
              <a:rPr lang="en-US" dirty="0">
                <a:latin typeface="Red Hat Display" panose="02010303040201060303" pitchFamily="2" charset="0"/>
                <a:ea typeface="Red Hat Display" panose="02010303040201060303" pitchFamily="2" charset="0"/>
                <a:cs typeface="Red Hat Display" panose="02010303040201060303" pitchFamily="2" charset="0"/>
              </a:rPr>
              <a:t>: With 8 bits for hosts, 2^8 - 2 = 254 valid hosts.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4090769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F9716-673E-F09B-79AD-825EB3199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77B6A4-C0EA-9222-49E7-1F4994F27CBD}"/>
              </a:ext>
            </a:extLst>
          </p:cNvPr>
          <p:cNvSpPr>
            <a:spLocks noGrp="1"/>
          </p:cNvSpPr>
          <p:nvPr>
            <p:ph type="title"/>
          </p:nvPr>
        </p:nvSpPr>
        <p:spPr>
          <a:xfrm>
            <a:off x="557939" y="220091"/>
            <a:ext cx="10753189" cy="1050770"/>
          </a:xfrm>
        </p:spPr>
        <p:txBody>
          <a:bodyPr/>
          <a:lstStyle/>
          <a:p>
            <a:r>
              <a:rPr lang="en-US" dirty="0"/>
              <a:t>What is a Public IP Address?</a:t>
            </a:r>
            <a:endParaRPr lang="en-IN" dirty="0"/>
          </a:p>
        </p:txBody>
      </p:sp>
      <p:sp>
        <p:nvSpPr>
          <p:cNvPr id="3" name="Content Placeholder 2">
            <a:extLst>
              <a:ext uri="{FF2B5EF4-FFF2-40B4-BE49-F238E27FC236}">
                <a16:creationId xmlns:a16="http://schemas.microsoft.com/office/drawing/2014/main" id="{7D7BB419-9CF9-D721-A997-976358206CD9}"/>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A public IP address is a globally unique IP address assigned to devices for communication over the internet.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These addresses are accessible from anywhere on the internet, meaning devices with public IPs can send and receive data from other public IP addresses worldwide.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Public IP addresses are issued by Internet Service Providers (ISPs) and are required for devices that need direct, unrestricted internet access, such as web servers or routers in home networks.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5241081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13349-8F8C-3A41-4648-B87026365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7BD00-0B93-8F7D-05A5-944200340823}"/>
              </a:ext>
            </a:extLst>
          </p:cNvPr>
          <p:cNvSpPr>
            <a:spLocks noGrp="1"/>
          </p:cNvSpPr>
          <p:nvPr>
            <p:ph type="title"/>
          </p:nvPr>
        </p:nvSpPr>
        <p:spPr>
          <a:xfrm>
            <a:off x="557939" y="220091"/>
            <a:ext cx="10753189" cy="1050770"/>
          </a:xfrm>
        </p:spPr>
        <p:txBody>
          <a:bodyPr/>
          <a:lstStyle/>
          <a:p>
            <a:r>
              <a:rPr lang="en-US" dirty="0"/>
              <a:t>Characteristics of Public IP Addresses:</a:t>
            </a:r>
            <a:endParaRPr lang="en-IN" dirty="0"/>
          </a:p>
        </p:txBody>
      </p:sp>
      <p:sp>
        <p:nvSpPr>
          <p:cNvPr id="3" name="Content Placeholder 2">
            <a:extLst>
              <a:ext uri="{FF2B5EF4-FFF2-40B4-BE49-F238E27FC236}">
                <a16:creationId xmlns:a16="http://schemas.microsoft.com/office/drawing/2014/main" id="{96D4695F-D6CB-D9BD-167E-C2F841878D2E}"/>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Globally Unique</a:t>
            </a:r>
            <a:r>
              <a:rPr lang="en-US" dirty="0">
                <a:latin typeface="Red Hat Display" panose="02010303040201060303" pitchFamily="2" charset="0"/>
                <a:ea typeface="Red Hat Display" panose="02010303040201060303" pitchFamily="2" charset="0"/>
                <a:cs typeface="Red Hat Display" panose="02010303040201060303" pitchFamily="2" charset="0"/>
              </a:rPr>
              <a:t>: Each public IP address is unique across the internet, ensuring that data can reach the correct destination globally.</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Internet-Routable</a:t>
            </a:r>
            <a:r>
              <a:rPr lang="en-US" dirty="0">
                <a:latin typeface="Red Hat Display" panose="02010303040201060303" pitchFamily="2" charset="0"/>
                <a:ea typeface="Red Hat Display" panose="02010303040201060303" pitchFamily="2" charset="0"/>
                <a:cs typeface="Red Hat Display" panose="02010303040201060303" pitchFamily="2" charset="0"/>
              </a:rPr>
              <a:t>: Devices with public IPs can be reached from other devices over the internet.</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Assigned by ISPs</a:t>
            </a:r>
            <a:r>
              <a:rPr lang="en-US" dirty="0">
                <a:latin typeface="Red Hat Display" panose="02010303040201060303" pitchFamily="2" charset="0"/>
                <a:ea typeface="Red Hat Display" panose="02010303040201060303" pitchFamily="2" charset="0"/>
                <a:cs typeface="Red Hat Display" panose="02010303040201060303" pitchFamily="2" charset="0"/>
              </a:rPr>
              <a:t>: ISPs control and assign public IPs to customers, often with additional costs associated with static public IPs.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9646291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229EA-7FE6-7F40-D127-E396D42E0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DBE82B-2354-9EAC-FE00-7FE439AD1651}"/>
              </a:ext>
            </a:extLst>
          </p:cNvPr>
          <p:cNvSpPr>
            <a:spLocks noGrp="1"/>
          </p:cNvSpPr>
          <p:nvPr>
            <p:ph type="title"/>
          </p:nvPr>
        </p:nvSpPr>
        <p:spPr>
          <a:xfrm>
            <a:off x="557939" y="220091"/>
            <a:ext cx="10753189" cy="1050770"/>
          </a:xfrm>
        </p:spPr>
        <p:txBody>
          <a:bodyPr/>
          <a:lstStyle/>
          <a:p>
            <a:r>
              <a:rPr lang="en-US" dirty="0"/>
              <a:t>Examples of Public IP Usage:</a:t>
            </a:r>
            <a:endParaRPr lang="en-IN" dirty="0"/>
          </a:p>
        </p:txBody>
      </p:sp>
      <p:sp>
        <p:nvSpPr>
          <p:cNvPr id="3" name="Content Placeholder 2">
            <a:extLst>
              <a:ext uri="{FF2B5EF4-FFF2-40B4-BE49-F238E27FC236}">
                <a16:creationId xmlns:a16="http://schemas.microsoft.com/office/drawing/2014/main" id="{B89A0B30-3A74-7976-54DF-AAB73CA753B9}"/>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Web Servers</a:t>
            </a:r>
            <a:r>
              <a:rPr lang="en-US" dirty="0">
                <a:latin typeface="Red Hat Display" panose="02010303040201060303" pitchFamily="2" charset="0"/>
                <a:ea typeface="Red Hat Display" panose="02010303040201060303" pitchFamily="2" charset="0"/>
                <a:cs typeface="Red Hat Display" panose="02010303040201060303" pitchFamily="2" charset="0"/>
              </a:rPr>
              <a:t>: Websites, email servers, and cloud services use public IP addresses, allowing users worldwide to connect.</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Routers in Home Networks</a:t>
            </a:r>
            <a:r>
              <a:rPr lang="en-US" dirty="0">
                <a:latin typeface="Red Hat Display" panose="02010303040201060303" pitchFamily="2" charset="0"/>
                <a:ea typeface="Red Hat Display" panose="02010303040201060303" pitchFamily="2" charset="0"/>
                <a:cs typeface="Red Hat Display" panose="02010303040201060303" pitchFamily="2" charset="0"/>
              </a:rPr>
              <a:t>: Routers often have a public IP on their internet-facing side, enabling them to connect to the wider internet.</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2452965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021A3-A8A3-AFDA-081E-E53DB28A4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F518CA-BDBC-3B61-4628-E57AEA482586}"/>
              </a:ext>
            </a:extLst>
          </p:cNvPr>
          <p:cNvSpPr>
            <a:spLocks noGrp="1"/>
          </p:cNvSpPr>
          <p:nvPr>
            <p:ph type="title"/>
          </p:nvPr>
        </p:nvSpPr>
        <p:spPr>
          <a:xfrm>
            <a:off x="557939" y="220091"/>
            <a:ext cx="10753189" cy="1050770"/>
          </a:xfrm>
        </p:spPr>
        <p:txBody>
          <a:bodyPr/>
          <a:lstStyle/>
          <a:p>
            <a:r>
              <a:rPr lang="en-US" dirty="0"/>
              <a:t>What is a Private IP Address?</a:t>
            </a:r>
            <a:endParaRPr lang="en-IN" dirty="0"/>
          </a:p>
        </p:txBody>
      </p:sp>
      <p:sp>
        <p:nvSpPr>
          <p:cNvPr id="3" name="Content Placeholder 2">
            <a:extLst>
              <a:ext uri="{FF2B5EF4-FFF2-40B4-BE49-F238E27FC236}">
                <a16:creationId xmlns:a16="http://schemas.microsoft.com/office/drawing/2014/main" id="{B67BD134-F940-4870-1105-E6990943BB6A}"/>
              </a:ext>
            </a:extLst>
          </p:cNvPr>
          <p:cNvSpPr>
            <a:spLocks noGrp="1"/>
          </p:cNvSpPr>
          <p:nvPr>
            <p:ph idx="1"/>
          </p:nvPr>
        </p:nvSpPr>
        <p:spPr>
          <a:xfrm>
            <a:off x="600611" y="1472340"/>
            <a:ext cx="10753189" cy="5089328"/>
          </a:xfrm>
        </p:spPr>
        <p:txBody>
          <a:bodyPr>
            <a:normAutofit/>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Private IP addresses are reserved for local network use only.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They are not accessible from the public internet and are used within private networks like home, office, and corporate networks.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Devices with private IP addresses can communicate with each other within the same network, but they cannot directly interact with devices on the internet without using a router or a Network Address Translation (NAT) service.</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63117016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2E994-E112-5D82-0FF9-0E857B9B7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2D119-1485-F797-1EB7-5EC3D7BBDF3F}"/>
              </a:ext>
            </a:extLst>
          </p:cNvPr>
          <p:cNvSpPr>
            <a:spLocks noGrp="1"/>
          </p:cNvSpPr>
          <p:nvPr>
            <p:ph type="title"/>
          </p:nvPr>
        </p:nvSpPr>
        <p:spPr>
          <a:xfrm>
            <a:off x="557939" y="220091"/>
            <a:ext cx="10753189" cy="1050770"/>
          </a:xfrm>
        </p:spPr>
        <p:txBody>
          <a:bodyPr/>
          <a:lstStyle/>
          <a:p>
            <a:r>
              <a:rPr lang="en-US" dirty="0"/>
              <a:t>Characteristics of Private IP Addresses:</a:t>
            </a:r>
            <a:endParaRPr lang="en-IN" dirty="0"/>
          </a:p>
        </p:txBody>
      </p:sp>
      <p:sp>
        <p:nvSpPr>
          <p:cNvPr id="3" name="Content Placeholder 2">
            <a:extLst>
              <a:ext uri="{FF2B5EF4-FFF2-40B4-BE49-F238E27FC236}">
                <a16:creationId xmlns:a16="http://schemas.microsoft.com/office/drawing/2014/main" id="{F20DFF69-BDC3-ADA6-C3C6-9ADD98723AE6}"/>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Local Use Only</a:t>
            </a:r>
            <a:r>
              <a:rPr lang="en-US" dirty="0">
                <a:latin typeface="Red Hat Display" panose="02010303040201060303" pitchFamily="2" charset="0"/>
                <a:ea typeface="Red Hat Display" panose="02010303040201060303" pitchFamily="2" charset="0"/>
                <a:cs typeface="Red Hat Display" panose="02010303040201060303" pitchFamily="2" charset="0"/>
              </a:rPr>
              <a:t>: Private IPs are meant for communication within a single network and are not routed on the internet.</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Reuse Across Networks</a:t>
            </a:r>
            <a:r>
              <a:rPr lang="en-US" dirty="0">
                <a:latin typeface="Red Hat Display" panose="02010303040201060303" pitchFamily="2" charset="0"/>
                <a:ea typeface="Red Hat Display" panose="02010303040201060303" pitchFamily="2" charset="0"/>
                <a:cs typeface="Red Hat Display" panose="02010303040201060303" pitchFamily="2" charset="0"/>
              </a:rPr>
              <a:t>: Private IP ranges are reserved, allowing them to be reused in multiple networks without conflict, as they do not interact directly with public IPs.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NAT Required for Internet Access</a:t>
            </a:r>
            <a:r>
              <a:rPr lang="en-US" dirty="0">
                <a:latin typeface="Red Hat Display" panose="02010303040201060303" pitchFamily="2" charset="0"/>
                <a:ea typeface="Red Hat Display" panose="02010303040201060303" pitchFamily="2" charset="0"/>
                <a:cs typeface="Red Hat Display" panose="02010303040201060303" pitchFamily="2" charset="0"/>
              </a:rPr>
              <a:t>: For devices with private IPs to access the internet, routers use NAT to translate private IPs to a public IP.</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4466959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F789D-AE03-FF79-D378-CB83B3039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077BF-5F69-EAA1-AC80-37887773A16B}"/>
              </a:ext>
            </a:extLst>
          </p:cNvPr>
          <p:cNvSpPr>
            <a:spLocks noGrp="1"/>
          </p:cNvSpPr>
          <p:nvPr>
            <p:ph type="title"/>
          </p:nvPr>
        </p:nvSpPr>
        <p:spPr>
          <a:xfrm>
            <a:off x="557939" y="220091"/>
            <a:ext cx="10753189" cy="1050770"/>
          </a:xfrm>
        </p:spPr>
        <p:txBody>
          <a:bodyPr/>
          <a:lstStyle/>
          <a:p>
            <a:r>
              <a:rPr lang="en-IN" dirty="0"/>
              <a:t>Private IP Address Ranges:</a:t>
            </a:r>
          </a:p>
        </p:txBody>
      </p:sp>
      <p:sp>
        <p:nvSpPr>
          <p:cNvPr id="3" name="Content Placeholder 2">
            <a:extLst>
              <a:ext uri="{FF2B5EF4-FFF2-40B4-BE49-F238E27FC236}">
                <a16:creationId xmlns:a16="http://schemas.microsoft.com/office/drawing/2014/main" id="{876FC8F1-F0A5-1B26-DE23-44996EDC7518}"/>
              </a:ext>
            </a:extLst>
          </p:cNvPr>
          <p:cNvSpPr>
            <a:spLocks noGrp="1"/>
          </p:cNvSpPr>
          <p:nvPr>
            <p:ph idx="1"/>
          </p:nvPr>
        </p:nvSpPr>
        <p:spPr>
          <a:xfrm>
            <a:off x="600611" y="1472340"/>
            <a:ext cx="10753189" cy="5089328"/>
          </a:xfrm>
        </p:spPr>
        <p:txBody>
          <a:bodyPr>
            <a:normAutofit/>
          </a:bodyPr>
          <a:lstStyle/>
          <a:p>
            <a:pPr marL="0" indent="0" algn="just">
              <a:lnSpc>
                <a:spcPct val="200000"/>
              </a:lnSpc>
              <a:buNone/>
            </a:pPr>
            <a:r>
              <a:rPr lang="en-US" dirty="0">
                <a:latin typeface="Red Hat Display" panose="02010303040201060303" pitchFamily="2" charset="0"/>
                <a:ea typeface="Red Hat Display" panose="02010303040201060303" pitchFamily="2" charset="0"/>
                <a:cs typeface="Red Hat Display" panose="02010303040201060303" pitchFamily="2" charset="0"/>
              </a:rPr>
              <a:t>The IPv4 private address ranges, as specified by the Internet Assigned Numbers Authority (IANA), are:</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 A</a:t>
            </a:r>
            <a:r>
              <a:rPr lang="en-US" dirty="0">
                <a:latin typeface="Red Hat Display" panose="02010303040201060303" pitchFamily="2" charset="0"/>
                <a:ea typeface="Red Hat Display" panose="02010303040201060303" pitchFamily="2" charset="0"/>
                <a:cs typeface="Red Hat Display" panose="02010303040201060303" pitchFamily="2" charset="0"/>
              </a:rPr>
              <a:t>: 10.0.0.0 to 10.255.255.255</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 B:</a:t>
            </a:r>
            <a:r>
              <a:rPr lang="en-US" dirty="0">
                <a:latin typeface="Red Hat Display" panose="02010303040201060303" pitchFamily="2" charset="0"/>
                <a:ea typeface="Red Hat Display" panose="02010303040201060303" pitchFamily="2" charset="0"/>
                <a:cs typeface="Red Hat Display" panose="02010303040201060303" pitchFamily="2" charset="0"/>
              </a:rPr>
              <a:t> 172.16.0.0 to 172.31.255.255</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 C</a:t>
            </a:r>
            <a:r>
              <a:rPr lang="en-US" dirty="0">
                <a:latin typeface="Red Hat Display" panose="02010303040201060303" pitchFamily="2" charset="0"/>
                <a:ea typeface="Red Hat Display" panose="02010303040201060303" pitchFamily="2" charset="0"/>
                <a:cs typeface="Red Hat Display" panose="02010303040201060303" pitchFamily="2" charset="0"/>
              </a:rPr>
              <a:t>: 192.168.0.0 to 192.168.255.255</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320713587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E43F6-AABE-5E8C-6C0F-038F5E1E0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760D3-9A88-C62A-CD7F-B401CFC1FC24}"/>
              </a:ext>
            </a:extLst>
          </p:cNvPr>
          <p:cNvSpPr>
            <a:spLocks noGrp="1"/>
          </p:cNvSpPr>
          <p:nvPr>
            <p:ph type="title"/>
          </p:nvPr>
        </p:nvSpPr>
        <p:spPr>
          <a:xfrm>
            <a:off x="557939" y="220091"/>
            <a:ext cx="10753189" cy="1050770"/>
          </a:xfrm>
        </p:spPr>
        <p:txBody>
          <a:bodyPr/>
          <a:lstStyle/>
          <a:p>
            <a:r>
              <a:rPr lang="en-US" dirty="0"/>
              <a:t>Examples of Private IP Usage:</a:t>
            </a:r>
            <a:endParaRPr lang="en-IN" dirty="0"/>
          </a:p>
        </p:txBody>
      </p:sp>
      <p:sp>
        <p:nvSpPr>
          <p:cNvPr id="3" name="Content Placeholder 2">
            <a:extLst>
              <a:ext uri="{FF2B5EF4-FFF2-40B4-BE49-F238E27FC236}">
                <a16:creationId xmlns:a16="http://schemas.microsoft.com/office/drawing/2014/main" id="{CC092CF6-BD7C-B130-E9F6-755A51F29128}"/>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Home Networks</a:t>
            </a:r>
            <a:r>
              <a:rPr lang="en-US" dirty="0">
                <a:latin typeface="Red Hat Display" panose="02010303040201060303" pitchFamily="2" charset="0"/>
                <a:ea typeface="Red Hat Display" panose="02010303040201060303" pitchFamily="2" charset="0"/>
                <a:cs typeface="Red Hat Display" panose="02010303040201060303" pitchFamily="2" charset="0"/>
              </a:rPr>
              <a:t>: Devices such as computers, smartphones, and printers in a home network often use private IP addresses.</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Corporate Networks</a:t>
            </a:r>
            <a:r>
              <a:rPr lang="en-US" dirty="0">
                <a:latin typeface="Red Hat Display" panose="02010303040201060303" pitchFamily="2" charset="0"/>
                <a:ea typeface="Red Hat Display" panose="02010303040201060303" pitchFamily="2" charset="0"/>
                <a:cs typeface="Red Hat Display" panose="02010303040201060303" pitchFamily="2" charset="0"/>
              </a:rPr>
              <a:t>: In offices, private IPs are assigned to employees’ devices, allowing for internal communication and security.</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8193691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5CCEC-4CA1-2BC5-B926-62EB7220D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F53A1-689B-1F54-FFA0-238731C0E662}"/>
              </a:ext>
            </a:extLst>
          </p:cNvPr>
          <p:cNvSpPr>
            <a:spLocks noGrp="1"/>
          </p:cNvSpPr>
          <p:nvPr>
            <p:ph type="title"/>
          </p:nvPr>
        </p:nvSpPr>
        <p:spPr>
          <a:xfrm>
            <a:off x="557939" y="220091"/>
            <a:ext cx="10753189" cy="1050770"/>
          </a:xfrm>
        </p:spPr>
        <p:txBody>
          <a:bodyPr>
            <a:normAutofit/>
          </a:bodyPr>
          <a:lstStyle/>
          <a:p>
            <a:r>
              <a:rPr lang="en-US" dirty="0"/>
              <a:t>Public vs Private IP Addresses</a:t>
            </a:r>
            <a:endParaRPr lang="en-IN" dirty="0"/>
          </a:p>
        </p:txBody>
      </p:sp>
      <p:pic>
        <p:nvPicPr>
          <p:cNvPr id="5" name="Picture 4">
            <a:extLst>
              <a:ext uri="{FF2B5EF4-FFF2-40B4-BE49-F238E27FC236}">
                <a16:creationId xmlns:a16="http://schemas.microsoft.com/office/drawing/2014/main" id="{87094DE4-D846-E76D-8AB5-7BF19D8BF9D8}"/>
              </a:ext>
            </a:extLst>
          </p:cNvPr>
          <p:cNvPicPr>
            <a:picLocks noChangeAspect="1"/>
          </p:cNvPicPr>
          <p:nvPr/>
        </p:nvPicPr>
        <p:blipFill>
          <a:blip r:embed="rId2"/>
          <a:stretch>
            <a:fillRect/>
          </a:stretch>
        </p:blipFill>
        <p:spPr>
          <a:xfrm>
            <a:off x="515873" y="1797651"/>
            <a:ext cx="11160254" cy="3262698"/>
          </a:xfrm>
          <a:prstGeom prst="rect">
            <a:avLst/>
          </a:prstGeom>
        </p:spPr>
      </p:pic>
    </p:spTree>
    <p:extLst>
      <p:ext uri="{BB962C8B-B14F-4D97-AF65-F5344CB8AC3E}">
        <p14:creationId xmlns:p14="http://schemas.microsoft.com/office/powerpoint/2010/main" val="36795214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C3A3-27B4-D62A-DB10-22026317A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FCE55-2660-9978-BA89-480CD238937F}"/>
              </a:ext>
            </a:extLst>
          </p:cNvPr>
          <p:cNvSpPr>
            <a:spLocks noGrp="1"/>
          </p:cNvSpPr>
          <p:nvPr>
            <p:ph type="title"/>
          </p:nvPr>
        </p:nvSpPr>
        <p:spPr>
          <a:xfrm>
            <a:off x="557939" y="220091"/>
            <a:ext cx="10753189" cy="1050770"/>
          </a:xfrm>
        </p:spPr>
        <p:txBody>
          <a:bodyPr/>
          <a:lstStyle/>
          <a:p>
            <a:r>
              <a:rPr lang="en-IN" dirty="0"/>
              <a:t>Network Address Translation (NAT)</a:t>
            </a:r>
          </a:p>
        </p:txBody>
      </p:sp>
      <p:sp>
        <p:nvSpPr>
          <p:cNvPr id="3" name="Content Placeholder 2">
            <a:extLst>
              <a:ext uri="{FF2B5EF4-FFF2-40B4-BE49-F238E27FC236}">
                <a16:creationId xmlns:a16="http://schemas.microsoft.com/office/drawing/2014/main" id="{F3C18661-248B-6439-B8BA-1B7B99F054A9}"/>
              </a:ext>
            </a:extLst>
          </p:cNvPr>
          <p:cNvSpPr>
            <a:spLocks noGrp="1"/>
          </p:cNvSpPr>
          <p:nvPr>
            <p:ph idx="1"/>
          </p:nvPr>
        </p:nvSpPr>
        <p:spPr>
          <a:xfrm>
            <a:off x="600611" y="1270861"/>
            <a:ext cx="11178101" cy="5290807"/>
          </a:xfrm>
        </p:spPr>
        <p:txBody>
          <a:bodyPr>
            <a:normAutofit fontScale="92500" lnSpcReduction="1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NAT is a technology that enables devices with private IPs to communicate over the internet by translating private IP addresses to a public IP address. </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Routers use NAT to map multiple private IP addresses to a single public IP, which conserves IP addresses and allows entire networks to share a single public IP for internet access.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Types of NAT:</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Static NAT</a:t>
            </a:r>
            <a:r>
              <a:rPr lang="en-US" dirty="0">
                <a:latin typeface="Red Hat Display" panose="02010303040201060303" pitchFamily="2" charset="0"/>
                <a:ea typeface="Red Hat Display" panose="02010303040201060303" pitchFamily="2" charset="0"/>
                <a:cs typeface="Red Hat Display" panose="02010303040201060303" pitchFamily="2" charset="0"/>
              </a:rPr>
              <a:t>: Maps a single private IP to a single public IP, often used for hosting services.</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Dynamic NAT</a:t>
            </a:r>
            <a:r>
              <a:rPr lang="en-US" dirty="0">
                <a:latin typeface="Red Hat Display" panose="02010303040201060303" pitchFamily="2" charset="0"/>
                <a:ea typeface="Red Hat Display" panose="02010303040201060303" pitchFamily="2" charset="0"/>
                <a:cs typeface="Red Hat Display" panose="02010303040201060303" pitchFamily="2" charset="0"/>
              </a:rPr>
              <a:t>: Maps private IPs to a pool of public IPs dynamically.</a:t>
            </a:r>
          </a:p>
          <a:p>
            <a:pPr lvl="1"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Port Address Translation (PAT): </a:t>
            </a:r>
            <a:r>
              <a:rPr lang="en-US" dirty="0">
                <a:latin typeface="Red Hat Display" panose="02010303040201060303" pitchFamily="2" charset="0"/>
                <a:ea typeface="Red Hat Display" panose="02010303040201060303" pitchFamily="2" charset="0"/>
                <a:cs typeface="Red Hat Display" panose="02010303040201060303" pitchFamily="2" charset="0"/>
              </a:rPr>
              <a:t>Maps multiple private IPs to a single public IP using different ports, commonly used in home networks.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60238531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6B7F6-CA48-FEFF-353C-73007B9AF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C670C-98EB-FCC0-1AA0-FC65A62C7B7D}"/>
              </a:ext>
            </a:extLst>
          </p:cNvPr>
          <p:cNvSpPr>
            <a:spLocks noGrp="1"/>
          </p:cNvSpPr>
          <p:nvPr>
            <p:ph type="title"/>
          </p:nvPr>
        </p:nvSpPr>
        <p:spPr>
          <a:xfrm>
            <a:off x="557939" y="220091"/>
            <a:ext cx="10753189" cy="1050770"/>
          </a:xfrm>
        </p:spPr>
        <p:txBody>
          <a:bodyPr/>
          <a:lstStyle/>
          <a:p>
            <a:r>
              <a:rPr lang="en-US" dirty="0"/>
              <a:t>Overview of IP Address Classes</a:t>
            </a:r>
            <a:endParaRPr lang="en-IN" dirty="0"/>
          </a:p>
        </p:txBody>
      </p:sp>
      <p:pic>
        <p:nvPicPr>
          <p:cNvPr id="5" name="Content Placeholder 4">
            <a:extLst>
              <a:ext uri="{FF2B5EF4-FFF2-40B4-BE49-F238E27FC236}">
                <a16:creationId xmlns:a16="http://schemas.microsoft.com/office/drawing/2014/main" id="{2DABF9C2-2752-AC26-BB01-C1C20EB45CC8}"/>
              </a:ext>
            </a:extLst>
          </p:cNvPr>
          <p:cNvPicPr>
            <a:picLocks noGrp="1" noChangeAspect="1"/>
          </p:cNvPicPr>
          <p:nvPr>
            <p:ph idx="1"/>
          </p:nvPr>
        </p:nvPicPr>
        <p:blipFill>
          <a:blip r:embed="rId2"/>
          <a:stretch>
            <a:fillRect/>
          </a:stretch>
        </p:blipFill>
        <p:spPr>
          <a:xfrm>
            <a:off x="380753" y="1477311"/>
            <a:ext cx="11191330" cy="4303556"/>
          </a:xfrm>
        </p:spPr>
      </p:pic>
    </p:spTree>
    <p:extLst>
      <p:ext uri="{BB962C8B-B14F-4D97-AF65-F5344CB8AC3E}">
        <p14:creationId xmlns:p14="http://schemas.microsoft.com/office/powerpoint/2010/main" val="38940852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5FD56-3AFE-F319-B3F1-723B932D4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435BE-E849-EC80-5866-E316A8BF3CB6}"/>
              </a:ext>
            </a:extLst>
          </p:cNvPr>
          <p:cNvSpPr>
            <a:spLocks noGrp="1"/>
          </p:cNvSpPr>
          <p:nvPr>
            <p:ph type="title"/>
          </p:nvPr>
        </p:nvSpPr>
        <p:spPr>
          <a:xfrm>
            <a:off x="557939" y="220091"/>
            <a:ext cx="10753189" cy="1050770"/>
          </a:xfrm>
        </p:spPr>
        <p:txBody>
          <a:bodyPr/>
          <a:lstStyle/>
          <a:p>
            <a:r>
              <a:rPr lang="en-IN" dirty="0"/>
              <a:t>Class A IP Addresses</a:t>
            </a:r>
          </a:p>
        </p:txBody>
      </p:sp>
      <p:sp>
        <p:nvSpPr>
          <p:cNvPr id="3" name="Content Placeholder 2">
            <a:extLst>
              <a:ext uri="{FF2B5EF4-FFF2-40B4-BE49-F238E27FC236}">
                <a16:creationId xmlns:a16="http://schemas.microsoft.com/office/drawing/2014/main" id="{5ADBB1DB-B76B-CADC-AACA-C64D88A6C6A3}"/>
              </a:ext>
            </a:extLst>
          </p:cNvPr>
          <p:cNvSpPr>
            <a:spLocks noGrp="1"/>
          </p:cNvSpPr>
          <p:nvPr>
            <p:ph idx="1"/>
          </p:nvPr>
        </p:nvSpPr>
        <p:spPr>
          <a:xfrm>
            <a:off x="600611" y="1162373"/>
            <a:ext cx="11224596" cy="5399295"/>
          </a:xfrm>
        </p:spPr>
        <p:txBody>
          <a:bodyPr>
            <a:normAutofit fontScale="77500" lnSpcReduction="2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A addresses are designed for very large networks with millions of devices, such as multinational corporations, universities, and government agencies. Only the first octet represents the network portion, with the remaining three octets allocated to hosts.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Range: 0.0.0.0 to 127.255.255.255</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Default Subnet Mask: 255.0.0.0</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Network/Host Allocation: The first octet represents the network, while the remaining three octets are used for hosts.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Hosts per Network: Over 16 million addresses per network.</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Example: 10.0.0.0 is a Class A network address, commonly used in private networks.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Notable Feature:</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first bit in Class A addresses is always 0.</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IP address 127.x.x.x is reserved for loopback purposes, used for testing and diagnosing the local device.</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42424623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AA2FD-79DA-BFC9-3CB6-BD5C2786F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265D7-70B7-7FA8-96B9-35F598617945}"/>
              </a:ext>
            </a:extLst>
          </p:cNvPr>
          <p:cNvSpPr>
            <a:spLocks noGrp="1"/>
          </p:cNvSpPr>
          <p:nvPr>
            <p:ph type="title"/>
          </p:nvPr>
        </p:nvSpPr>
        <p:spPr>
          <a:xfrm>
            <a:off x="557939" y="220091"/>
            <a:ext cx="10753189" cy="1050770"/>
          </a:xfrm>
        </p:spPr>
        <p:txBody>
          <a:bodyPr/>
          <a:lstStyle/>
          <a:p>
            <a:r>
              <a:rPr lang="en-IN" dirty="0"/>
              <a:t>Class B IP Addresses</a:t>
            </a:r>
          </a:p>
        </p:txBody>
      </p:sp>
      <p:sp>
        <p:nvSpPr>
          <p:cNvPr id="3" name="Content Placeholder 2">
            <a:extLst>
              <a:ext uri="{FF2B5EF4-FFF2-40B4-BE49-F238E27FC236}">
                <a16:creationId xmlns:a16="http://schemas.microsoft.com/office/drawing/2014/main" id="{6A36825F-65B4-CDAA-7F58-04916DF8EC96}"/>
              </a:ext>
            </a:extLst>
          </p:cNvPr>
          <p:cNvSpPr>
            <a:spLocks noGrp="1"/>
          </p:cNvSpPr>
          <p:nvPr>
            <p:ph idx="1"/>
          </p:nvPr>
        </p:nvSpPr>
        <p:spPr>
          <a:xfrm>
            <a:off x="600611" y="1270861"/>
            <a:ext cx="11271091" cy="5290807"/>
          </a:xfrm>
        </p:spPr>
        <p:txBody>
          <a:bodyPr>
            <a:normAutofit fontScale="77500" lnSpcReduction="2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B addresses are used by medium-sized networks, such as universities, large business networks, and sizable internet service providers. Class B splits the IP address into two octets for the network and two for the host.</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Range: 128.0.0.0 to 191.255.255.255</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Default Subnet Mask: 255.255.0.0</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Network/Host Allocation: The first two octets represent the network portion, while the last two octets are allocated for hosts.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Hosts per Network: Around 65,000 hosts per network.</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Example: 172.16.0.0 is a Class B address range, often used in private networks.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Notable Feature:</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first two bits in Class B addresses are always 10.</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B strikes a balance between network and host capacities, suitable for organizations that require a medium range of IP addresses.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9812807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07085-776B-7466-42CA-5DE659ACE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986AE-D0EF-3C47-C04B-EDBEF5521D97}"/>
              </a:ext>
            </a:extLst>
          </p:cNvPr>
          <p:cNvSpPr>
            <a:spLocks noGrp="1"/>
          </p:cNvSpPr>
          <p:nvPr>
            <p:ph type="title"/>
          </p:nvPr>
        </p:nvSpPr>
        <p:spPr>
          <a:xfrm>
            <a:off x="557939" y="220091"/>
            <a:ext cx="10753189" cy="1050770"/>
          </a:xfrm>
        </p:spPr>
        <p:txBody>
          <a:bodyPr/>
          <a:lstStyle/>
          <a:p>
            <a:r>
              <a:rPr lang="en-IN" dirty="0"/>
              <a:t>Class C IP Addresses</a:t>
            </a:r>
          </a:p>
        </p:txBody>
      </p:sp>
      <p:sp>
        <p:nvSpPr>
          <p:cNvPr id="3" name="Content Placeholder 2">
            <a:extLst>
              <a:ext uri="{FF2B5EF4-FFF2-40B4-BE49-F238E27FC236}">
                <a16:creationId xmlns:a16="http://schemas.microsoft.com/office/drawing/2014/main" id="{00A59E86-E879-DB5C-4C50-285E2FF42ACF}"/>
              </a:ext>
            </a:extLst>
          </p:cNvPr>
          <p:cNvSpPr>
            <a:spLocks noGrp="1"/>
          </p:cNvSpPr>
          <p:nvPr>
            <p:ph idx="1"/>
          </p:nvPr>
        </p:nvSpPr>
        <p:spPr>
          <a:xfrm>
            <a:off x="600611" y="1270861"/>
            <a:ext cx="11033450" cy="5367048"/>
          </a:xfrm>
        </p:spPr>
        <p:txBody>
          <a:bodyPr>
            <a:normAutofit fontScale="77500" lnSpcReduction="2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C addresses are the most commonly used for small to medium-sized networks, such as small business networks or office LANs. Class C addresses allocate three octets for the network portion and only one for the host.</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Range: 192.0.0.0 to 223.255.255.255</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Default Subnet Mask: 255.255.255.0</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Network/Host Allocation: The first three octets represent the network, and the last octet is for the host.</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Hosts per Network: A maximum of 254 hosts per network.</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Example: 192.168.1.0 is a Class C address often used for internal networks and home routers.</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Notable Feature:</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first three bits in Class C addresses are always 110.</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C offers a large number of networks but a smaller number of hosts, making it ideal for smaller networks that don’t require many devices.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0793132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78DD-8BCC-4C1D-BCEF-3674EDFE6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F7C93-733B-D875-7745-A3A6E4BCD8CE}"/>
              </a:ext>
            </a:extLst>
          </p:cNvPr>
          <p:cNvSpPr>
            <a:spLocks noGrp="1"/>
          </p:cNvSpPr>
          <p:nvPr>
            <p:ph type="title"/>
          </p:nvPr>
        </p:nvSpPr>
        <p:spPr>
          <a:xfrm>
            <a:off x="557939" y="220091"/>
            <a:ext cx="10753189" cy="1050770"/>
          </a:xfrm>
        </p:spPr>
        <p:txBody>
          <a:bodyPr/>
          <a:lstStyle/>
          <a:p>
            <a:r>
              <a:rPr lang="en-US" dirty="0"/>
              <a:t>Class D IP Addresses (Multicast)</a:t>
            </a:r>
            <a:endParaRPr lang="en-IN" dirty="0"/>
          </a:p>
        </p:txBody>
      </p:sp>
      <p:sp>
        <p:nvSpPr>
          <p:cNvPr id="3" name="Content Placeholder 2">
            <a:extLst>
              <a:ext uri="{FF2B5EF4-FFF2-40B4-BE49-F238E27FC236}">
                <a16:creationId xmlns:a16="http://schemas.microsoft.com/office/drawing/2014/main" id="{98B6E426-E553-6E0F-14D8-466B746D7ED7}"/>
              </a:ext>
            </a:extLst>
          </p:cNvPr>
          <p:cNvSpPr>
            <a:spLocks noGrp="1"/>
          </p:cNvSpPr>
          <p:nvPr>
            <p:ph idx="1"/>
          </p:nvPr>
        </p:nvSpPr>
        <p:spPr>
          <a:xfrm>
            <a:off x="600611" y="1270861"/>
            <a:ext cx="11033450" cy="5367048"/>
          </a:xfrm>
        </p:spPr>
        <p:txBody>
          <a:bodyPr>
            <a:normAutofit fontScale="77500" lnSpcReduction="2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D is reserved for multicasting. Unlike other IP classes, Class D addresses are not used for conventional device-to-device communication or for identifying unique hosts or networks. Instead, they are designed to send data to multiple devices simultaneously.</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Range: 224.0.0.0 to 239.255.255.255</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Default Subnet Mask: Not applicable (does not define a network/host structure).</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Network/Host Allocation: Class D does not differentiate between network and host portions.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Usage: Multicasting, where one source can communicate with multiple recipients.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Example: 224.0.0.0 to 224.0.0.255 is reserved for local network multicast.</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Notable Feature:</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first four bits in Class D addresses are always 1110.</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Common applications include video conferencing and streaming where data needs to be distributed to multiple users at once.</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032978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F7ED6-CA8D-D59F-100F-9A4172909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0E741-C645-724E-A863-5DFA0B40914F}"/>
              </a:ext>
            </a:extLst>
          </p:cNvPr>
          <p:cNvSpPr>
            <a:spLocks noGrp="1"/>
          </p:cNvSpPr>
          <p:nvPr>
            <p:ph type="title"/>
          </p:nvPr>
        </p:nvSpPr>
        <p:spPr>
          <a:xfrm>
            <a:off x="557939" y="220091"/>
            <a:ext cx="10753189" cy="1050770"/>
          </a:xfrm>
        </p:spPr>
        <p:txBody>
          <a:bodyPr/>
          <a:lstStyle/>
          <a:p>
            <a:r>
              <a:rPr lang="en-IN" dirty="0"/>
              <a:t>Class E IP Addresses (Experimental)</a:t>
            </a:r>
          </a:p>
        </p:txBody>
      </p:sp>
      <p:sp>
        <p:nvSpPr>
          <p:cNvPr id="3" name="Content Placeholder 2">
            <a:extLst>
              <a:ext uri="{FF2B5EF4-FFF2-40B4-BE49-F238E27FC236}">
                <a16:creationId xmlns:a16="http://schemas.microsoft.com/office/drawing/2014/main" id="{895EBABB-EC52-3176-7126-39C37CA22545}"/>
              </a:ext>
            </a:extLst>
          </p:cNvPr>
          <p:cNvSpPr>
            <a:spLocks noGrp="1"/>
          </p:cNvSpPr>
          <p:nvPr>
            <p:ph idx="1"/>
          </p:nvPr>
        </p:nvSpPr>
        <p:spPr>
          <a:xfrm>
            <a:off x="600611" y="1472340"/>
            <a:ext cx="11209097" cy="5089328"/>
          </a:xfrm>
        </p:spPr>
        <p:txBody>
          <a:bodyPr>
            <a:normAutofit fontScale="85000" lnSpcReduction="20000"/>
          </a:bodyPr>
          <a:lstStyle/>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E addresses are reserved for experimental use and are not allocated for standard IP address allocation. This class is often used for testing new protocols and research.</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Range: 240.0.0.0 to 255.255.255.255</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Default Subnet Mask: Not applicable.</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Network/Host Allocation: Class E does not differentiate between network and host portions.</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Usage: Reserved for future use or experimental purposes; not assignable for general network use.</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Example: Addresses in the range 240.0.0.0 to 255.255.255.254 are part of Class E.</a:t>
            </a:r>
          </a:p>
          <a:p>
            <a:pPr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Notable Feature:</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The first four bits in Class E addresses are always 1111.</a:t>
            </a:r>
          </a:p>
          <a:p>
            <a:pPr lvl="1" algn="just">
              <a:lnSpc>
                <a:spcPct val="200000"/>
              </a:lnSpc>
            </a:pPr>
            <a:r>
              <a:rPr lang="en-US" dirty="0">
                <a:latin typeface="Red Hat Display" panose="02010303040201060303" pitchFamily="2" charset="0"/>
                <a:ea typeface="Red Hat Display" panose="02010303040201060303" pitchFamily="2" charset="0"/>
                <a:cs typeface="Red Hat Display" panose="02010303040201060303" pitchFamily="2" charset="0"/>
              </a:rPr>
              <a:t>Class E is generally unused in the public internet and private networks.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10283186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0DFBC-0409-0D9B-1F52-DC35E214C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4740E-E6AF-672B-A627-66BC2E42C4CC}"/>
              </a:ext>
            </a:extLst>
          </p:cNvPr>
          <p:cNvSpPr>
            <a:spLocks noGrp="1"/>
          </p:cNvSpPr>
          <p:nvPr>
            <p:ph type="title"/>
          </p:nvPr>
        </p:nvSpPr>
        <p:spPr>
          <a:xfrm>
            <a:off x="557939" y="220091"/>
            <a:ext cx="10753189" cy="1050770"/>
          </a:xfrm>
        </p:spPr>
        <p:txBody>
          <a:bodyPr/>
          <a:lstStyle/>
          <a:p>
            <a:r>
              <a:rPr lang="en-IN" dirty="0"/>
              <a:t>Classful vs. Classless Addressing</a:t>
            </a:r>
          </a:p>
        </p:txBody>
      </p:sp>
      <p:sp>
        <p:nvSpPr>
          <p:cNvPr id="3" name="Content Placeholder 2">
            <a:extLst>
              <a:ext uri="{FF2B5EF4-FFF2-40B4-BE49-F238E27FC236}">
                <a16:creationId xmlns:a16="http://schemas.microsoft.com/office/drawing/2014/main" id="{84575560-CDAB-7F5C-F8DD-03825D3F8D87}"/>
              </a:ext>
            </a:extLst>
          </p:cNvPr>
          <p:cNvSpPr>
            <a:spLocks noGrp="1"/>
          </p:cNvSpPr>
          <p:nvPr>
            <p:ph idx="1"/>
          </p:nvPr>
        </p:nvSpPr>
        <p:spPr>
          <a:xfrm>
            <a:off x="600611" y="1472340"/>
            <a:ext cx="10753189" cy="5089328"/>
          </a:xfrm>
        </p:spPr>
        <p:txBody>
          <a:bodyPr>
            <a:normAutofit/>
          </a:bodyPr>
          <a:lstStyle/>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Classful Addressing</a:t>
            </a:r>
            <a:r>
              <a:rPr lang="en-US" dirty="0">
                <a:latin typeface="Red Hat Display" panose="02010303040201060303" pitchFamily="2" charset="0"/>
                <a:ea typeface="Red Hat Display" panose="02010303040201060303" pitchFamily="2" charset="0"/>
                <a:cs typeface="Red Hat Display" panose="02010303040201060303" pitchFamily="2" charset="0"/>
              </a:rPr>
              <a:t>: IP classes (A, B, and C) are considered classful as they follow predefined boundaries based on the first few bits of the address. While they simplify network design, they also limit flexibility and can lead to inefficient IP usage, as each class has a fixed number of hosts and network allocation.</a:t>
            </a:r>
          </a:p>
          <a:p>
            <a:pPr algn="just">
              <a:lnSpc>
                <a:spcPct val="200000"/>
              </a:lnSpc>
            </a:pPr>
            <a:r>
              <a:rPr lang="en-US" b="1" dirty="0">
                <a:latin typeface="Red Hat Display" panose="02010303040201060303" pitchFamily="2" charset="0"/>
                <a:ea typeface="Red Hat Display" panose="02010303040201060303" pitchFamily="2" charset="0"/>
                <a:cs typeface="Red Hat Display" panose="02010303040201060303" pitchFamily="2" charset="0"/>
              </a:rPr>
              <a:t>Classless Inter-Domain Routing (CIDR): </a:t>
            </a:r>
            <a:r>
              <a:rPr lang="en-US" dirty="0">
                <a:latin typeface="Red Hat Display" panose="02010303040201060303" pitchFamily="2" charset="0"/>
                <a:ea typeface="Red Hat Display" panose="02010303040201060303" pitchFamily="2" charset="0"/>
                <a:cs typeface="Red Hat Display" panose="02010303040201060303" pitchFamily="2" charset="0"/>
              </a:rPr>
              <a:t>CIDR was introduced to address the limitations of classful addressing. It allows networks to be defined by the subnet mask instead of the class, which conserves IP addresses by allocating them based on network needs rather than rigid class boundaries.</a:t>
            </a: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40738529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3CE9-1320-1A54-0102-5EA0C8E20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5F327-EEC2-DEFD-2824-57176C9C3ADC}"/>
              </a:ext>
            </a:extLst>
          </p:cNvPr>
          <p:cNvSpPr>
            <a:spLocks noGrp="1"/>
          </p:cNvSpPr>
          <p:nvPr>
            <p:ph type="title"/>
          </p:nvPr>
        </p:nvSpPr>
        <p:spPr>
          <a:xfrm>
            <a:off x="557939" y="220091"/>
            <a:ext cx="10753189" cy="1050770"/>
          </a:xfrm>
        </p:spPr>
        <p:txBody>
          <a:bodyPr/>
          <a:lstStyle/>
          <a:p>
            <a:endParaRPr lang="en-IN" dirty="0"/>
          </a:p>
        </p:txBody>
      </p:sp>
      <p:sp>
        <p:nvSpPr>
          <p:cNvPr id="3" name="Content Placeholder 2">
            <a:extLst>
              <a:ext uri="{FF2B5EF4-FFF2-40B4-BE49-F238E27FC236}">
                <a16:creationId xmlns:a16="http://schemas.microsoft.com/office/drawing/2014/main" id="{69AEFA9E-81E5-4590-5362-B6AD2E8F4A35}"/>
              </a:ext>
            </a:extLst>
          </p:cNvPr>
          <p:cNvSpPr>
            <a:spLocks noGrp="1"/>
          </p:cNvSpPr>
          <p:nvPr>
            <p:ph idx="1"/>
          </p:nvPr>
        </p:nvSpPr>
        <p:spPr>
          <a:xfrm>
            <a:off x="600611" y="1472340"/>
            <a:ext cx="10753189" cy="5089328"/>
          </a:xfrm>
        </p:spPr>
        <p:txBody>
          <a:bodyPr>
            <a:normAutofit/>
          </a:bodyPr>
          <a:lstStyle/>
          <a:p>
            <a:pPr algn="just">
              <a:lnSpc>
                <a:spcPct val="200000"/>
              </a:lnSpc>
            </a:pPr>
            <a:endParaRPr lang="en-IN" dirty="0">
              <a:latin typeface="Red Hat Display" panose="02010303040201060303" pitchFamily="2" charset="0"/>
              <a:ea typeface="Red Hat Display" panose="02010303040201060303" pitchFamily="2" charset="0"/>
              <a:cs typeface="Red Hat Display" panose="02010303040201060303" pitchFamily="2" charset="0"/>
            </a:endParaRPr>
          </a:p>
        </p:txBody>
      </p:sp>
    </p:spTree>
    <p:extLst>
      <p:ext uri="{BB962C8B-B14F-4D97-AF65-F5344CB8AC3E}">
        <p14:creationId xmlns:p14="http://schemas.microsoft.com/office/powerpoint/2010/main" val="206274769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3017</TotalTime>
  <Words>6681</Words>
  <Application>Microsoft Office PowerPoint</Application>
  <PresentationFormat>Widescreen</PresentationFormat>
  <Paragraphs>549</Paragraphs>
  <Slides>95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95</vt:i4>
      </vt:variant>
    </vt:vector>
  </HeadingPairs>
  <TitlesOfParts>
    <vt:vector size="102" baseType="lpstr">
      <vt:lpstr>Arial</vt:lpstr>
      <vt:lpstr>Courier New</vt:lpstr>
      <vt:lpstr>Red Hat Display</vt:lpstr>
      <vt:lpstr>Rockwell</vt:lpstr>
      <vt:lpstr>Rockwell Condensed</vt:lpstr>
      <vt:lpstr>Wingdings</vt:lpstr>
      <vt:lpstr>Wood Type</vt:lpstr>
      <vt:lpstr>Networking</vt:lpstr>
      <vt:lpstr>Agenda</vt:lpstr>
      <vt:lpstr>Introduction to Networks</vt:lpstr>
      <vt:lpstr>What is a Computer Network?</vt:lpstr>
      <vt:lpstr>What Do Computer Networks Do?</vt:lpstr>
      <vt:lpstr>Key Components of a Computer Network</vt:lpstr>
      <vt:lpstr>Components Of Computer Network</vt:lpstr>
      <vt:lpstr>Network devices</vt:lpstr>
      <vt:lpstr>Network Interface Card </vt:lpstr>
      <vt:lpstr>Types of NICs</vt:lpstr>
      <vt:lpstr>NIC components</vt:lpstr>
      <vt:lpstr>NIC components</vt:lpstr>
      <vt:lpstr>Repeater</vt:lpstr>
      <vt:lpstr>Features of Repeaters</vt:lpstr>
      <vt:lpstr>Types of Repeaters</vt:lpstr>
      <vt:lpstr>Types of Repeaters</vt:lpstr>
      <vt:lpstr>Types of Repeaters</vt:lpstr>
      <vt:lpstr>Types of Repeaters</vt:lpstr>
      <vt:lpstr>Advantages &amp; Disadvantages of repeater</vt:lpstr>
      <vt:lpstr>Hub</vt:lpstr>
      <vt:lpstr>Types of Network Hubs</vt:lpstr>
      <vt:lpstr>Types of Network Hubs</vt:lpstr>
      <vt:lpstr>Types of Network Hubs</vt:lpstr>
      <vt:lpstr>Features of Hubs</vt:lpstr>
      <vt:lpstr>Advantages &amp; Disadvantages of HUB</vt:lpstr>
      <vt:lpstr>Bridges</vt:lpstr>
      <vt:lpstr>Working of Bridges</vt:lpstr>
      <vt:lpstr>Types of Bridges</vt:lpstr>
      <vt:lpstr>Types of Bridges</vt:lpstr>
      <vt:lpstr>Types of Bridges</vt:lpstr>
      <vt:lpstr>Switches</vt:lpstr>
      <vt:lpstr>Features of Network Switches</vt:lpstr>
      <vt:lpstr>Why Are Network Switches Valuable?</vt:lpstr>
      <vt:lpstr>Types of Switches</vt:lpstr>
      <vt:lpstr>Types of Switches</vt:lpstr>
      <vt:lpstr>Types of Switches</vt:lpstr>
      <vt:lpstr>Network Switch vs Router</vt:lpstr>
      <vt:lpstr>Network Switches</vt:lpstr>
      <vt:lpstr>Advantages &amp; Disadvantages of Switches</vt:lpstr>
      <vt:lpstr>Routers</vt:lpstr>
      <vt:lpstr>Routers</vt:lpstr>
      <vt:lpstr>Routing protocol</vt:lpstr>
      <vt:lpstr>Types of Router</vt:lpstr>
      <vt:lpstr>Types of Router</vt:lpstr>
      <vt:lpstr>Functions of router</vt:lpstr>
      <vt:lpstr>Advantages &amp; Disadvantages of Router</vt:lpstr>
      <vt:lpstr>Routing Protocol</vt:lpstr>
      <vt:lpstr>Routing Protocol - Static Routing</vt:lpstr>
      <vt:lpstr>Routing Protocol</vt:lpstr>
      <vt:lpstr>Dynamic Routing Protocol</vt:lpstr>
      <vt:lpstr>What is an Internet Protocol (IP) Address?</vt:lpstr>
      <vt:lpstr>IPv4 Addresses</vt:lpstr>
      <vt:lpstr>IPv6 Addresses</vt:lpstr>
      <vt:lpstr>Types of IP Addresses: Public and Private</vt:lpstr>
      <vt:lpstr>Private IP Address Ranges</vt:lpstr>
      <vt:lpstr>Role of IP Addresses in Networking</vt:lpstr>
      <vt:lpstr>IP Address Classes (IPv4)</vt:lpstr>
      <vt:lpstr>IPv4 Address Classes</vt:lpstr>
      <vt:lpstr>IPv6 Address Types </vt:lpstr>
      <vt:lpstr>Unicast Communication</vt:lpstr>
      <vt:lpstr>Characteristics of Unicast</vt:lpstr>
      <vt:lpstr>Multicast Communication</vt:lpstr>
      <vt:lpstr>Characteristics of Multicast:</vt:lpstr>
      <vt:lpstr>Broadcast Communication</vt:lpstr>
      <vt:lpstr>Summary of Unicast, Multicast, and Broadcast</vt:lpstr>
      <vt:lpstr>Reserved and Special IP Address Ranges (IPv4)</vt:lpstr>
      <vt:lpstr>Reserved and Special IP Address Ranges (IPv4)</vt:lpstr>
      <vt:lpstr>Reserved and Special IP Address Ranges (IPv6)</vt:lpstr>
      <vt:lpstr>CIDR (Classless Inter-Domain Routing)</vt:lpstr>
      <vt:lpstr>The Structure of CIDR Notation</vt:lpstr>
      <vt:lpstr>Benefits of CIDR</vt:lpstr>
      <vt:lpstr>Common CIDR Notations and Their Subnet Sizes</vt:lpstr>
      <vt:lpstr>Network Address</vt:lpstr>
      <vt:lpstr>Example of Network Address Calculation:</vt:lpstr>
      <vt:lpstr>Broadcast Address</vt:lpstr>
      <vt:lpstr>Example of Broadcast Address Calculation:</vt:lpstr>
      <vt:lpstr>Valid Host Addresses</vt:lpstr>
      <vt:lpstr>Example of Valid Host Address Range:</vt:lpstr>
      <vt:lpstr>What is a Public IP Address?</vt:lpstr>
      <vt:lpstr>Characteristics of Public IP Addresses:</vt:lpstr>
      <vt:lpstr>Examples of Public IP Usage:</vt:lpstr>
      <vt:lpstr>What is a Private IP Address?</vt:lpstr>
      <vt:lpstr>Characteristics of Private IP Addresses:</vt:lpstr>
      <vt:lpstr>Private IP Address Ranges:</vt:lpstr>
      <vt:lpstr>Examples of Private IP Usage:</vt:lpstr>
      <vt:lpstr>Public vs Private IP Addresses</vt:lpstr>
      <vt:lpstr>Network Address Translation (NAT)</vt:lpstr>
      <vt:lpstr>Overview of IP Address Classes</vt:lpstr>
      <vt:lpstr>Class A IP Addresses</vt:lpstr>
      <vt:lpstr>Class B IP Addresses</vt:lpstr>
      <vt:lpstr>Class C IP Addresses</vt:lpstr>
      <vt:lpstr>Class D IP Addresses (Multicast)</vt:lpstr>
      <vt:lpstr>Class E IP Addresses (Experimental)</vt:lpstr>
      <vt:lpstr>Classful vs. Classless Addressing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Infrastructure Services</dc:title>
  <dc:creator>Jeetu Tomar</dc:creator>
  <cp:lastModifiedBy>Jeetu Tomar</cp:lastModifiedBy>
  <cp:revision>683</cp:revision>
  <dcterms:created xsi:type="dcterms:W3CDTF">2024-01-23T14:19:57Z</dcterms:created>
  <dcterms:modified xsi:type="dcterms:W3CDTF">2024-11-01T16:57:27Z</dcterms:modified>
</cp:coreProperties>
</file>